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vml" ContentType="application/vnd.openxmlformats-officedocument.vmlDrawing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99" r:id="rId1"/>
  </p:sldMasterIdLst>
  <p:notesMasterIdLst>
    <p:notesMasterId r:id="rId2"/>
  </p:notesMasterIdLst>
  <p:sldIdLst>
    <p:sldId id="286" r:id="rId3"/>
    <p:sldId id="287" r:id="rId4"/>
    <p:sldId id="288" r:id="rId5"/>
    <p:sldId id="275" r:id="rId6"/>
    <p:sldId id="299" r:id="rId7"/>
    <p:sldId id="300" r:id="rId8"/>
    <p:sldId id="301" r:id="rId9"/>
    <p:sldId id="307" r:id="rId10"/>
    <p:sldId id="302" r:id="rId11"/>
    <p:sldId id="303" r:id="rId12"/>
    <p:sldId id="309" r:id="rId13"/>
    <p:sldId id="306" r:id="rId14"/>
    <p:sldId id="304" r:id="rId15"/>
    <p:sldId id="296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present/>
    <p:sldAll/>
    <p:penClr>
      <a:prstClr val="red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1075" autoAdjust="0"/>
    <p:restoredTop sz="96130" autoAdjust="0"/>
  </p:normalViewPr>
  <p:slideViewPr>
    <p:cSldViewPr snapToGrid="0">
      <p:cViewPr varScale="1">
        <p:scale>
          <a:sx n="100" d="100"/>
          <a:sy n="100" d="100"/>
        </p:scale>
        <p:origin x="869" y="77"/>
      </p:cViewPr>
      <p:guideLst>
        <p:guide orient="horz" pos="2158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</p:cSldViewPr>
  </p:notes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presProps" Target="presProps.xml"  /><Relationship Id="rId18" Type="http://schemas.openxmlformats.org/officeDocument/2006/relationships/viewProps" Target="viewProps.xml"  /><Relationship Id="rId19" Type="http://schemas.openxmlformats.org/officeDocument/2006/relationships/theme" Target="theme/theme1.xml"  /><Relationship Id="rId2" Type="http://schemas.openxmlformats.org/officeDocument/2006/relationships/notesMaster" Target="notesMasters/notesMaster1.xml"  /><Relationship Id="rId20" Type="http://schemas.openxmlformats.org/officeDocument/2006/relationships/tableStyles" Target="tableStyles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DF8E7583-E9B1-42EE-9AF3-C829046E7442}" type="datetime1">
              <a:rPr lang="ko-KR" altLang="en-US"/>
              <a:pPr lvl="0">
                <a:defRPr/>
              </a:pPr>
              <a:t>2026-09-25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두 번째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세 번째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네 번째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 번째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r>
              <a:rPr lang="ko-KR" altLang="en-US"/>
              <a:t/>
            </a: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34A290D4-974D-4CD0-A5A6-88EB26451EE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D5B722-B0B1-C1B4-8BCA-943AD99C71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D04AE5-264E-31AF-87BC-219342624B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A3D1ADB-1661-553D-D03A-EFCCE60ED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97F8-D4A7-4819-86EA-72F3F8CDBDBB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7C228A5-7A76-9D58-7CEF-1B771707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667F630-1759-030C-43C9-39EC6519B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B3E2-B241-4343-B712-832CE3156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449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45480-BA22-6E2A-58A9-133F85511E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6007D16-8570-D531-5DDD-8D839F2ABA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2DFD9F8-727B-6936-B347-2A5CD8592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97F8-D4A7-4819-86EA-72F3F8CDBDBB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CDAED3B-7835-A798-AAA0-1C3FC5871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3A7DA8-74FE-50BA-695A-00F1456C0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B3E2-B241-4343-B712-832CE3156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11328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4ED76D-7720-F59B-3DE2-F74862583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12F044F-E3B2-2CD5-A620-0B9B936D2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B06E37-6447-BEA4-5757-7694644E51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97F8-D4A7-4819-86EA-72F3F8CDBDBB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4B1618-7627-5745-8FD9-335DDE5D5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CC3F2-ABFF-79E0-A323-BC9D1C628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B3E2-B241-4343-B712-832CE3156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6575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3EEBD4C-C6A3-F159-E7EB-F8BAFB0A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91314A-D5D7-F165-EC62-F9AE9C368E7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64BE8D-02F7-C176-A12E-01EBD3A282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0C73ED1-D71B-4B23-9B3E-9B20EDFA9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97F8-D4A7-4819-86EA-72F3F8CDBDBB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C717A83-5A87-C407-C4C2-618DE0DCA4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775E4B8-1945-475C-F1E6-ECC9AEB44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B3E2-B241-4343-B712-832CE3156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20075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10A138-023F-E981-2929-7B2DAC702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1221CE0-B5E1-1C50-FCE3-251CB4C161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044EAA-9545-3352-CA4F-74E77671E5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486160-8E71-3CB1-2893-B473EEEC1B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1CA4DC01-D589-397A-6F66-A6E623B0AB9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3DFD7CC4-C63A-7650-55E2-1A90B26C6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97F8-D4A7-4819-86EA-72F3F8CDBDBB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29E4A3-D7B3-6AA9-0345-3D2A0B843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5679236-9A1F-D515-E4A0-12D80A5260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B3E2-B241-4343-B712-832CE3156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5653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D70E6-A06A-B5DD-1F2D-F3F3D1941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1622ABE-DEBE-63CA-02C4-0E1DEDFC9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97F8-D4A7-4819-86EA-72F3F8CDBDBB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DDD881B-D5A1-E544-123A-4605731CC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29FBB51-2BC2-3897-8464-F744D998C6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B3E2-B241-4343-B712-832CE3156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9417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48080D-ACEE-EBEC-0E1B-DE155397D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97F8-D4A7-4819-86EA-72F3F8CDBDBB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EB4AEBD-AAC1-F856-9C11-26E3896EF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F0470EA-2E35-7963-8364-0F78934FF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B3E2-B241-4343-B712-832CE3156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9719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AF8DCA-21CD-9945-212D-718CF31AD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3EF168-F69E-4FB0-314D-ABAB8479F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F8B807-090E-A814-D346-278C661B9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D8AD024-1DF8-039B-A0DF-02FCD9DF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97F8-D4A7-4819-86EA-72F3F8CDBDBB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5F1F07-DB1C-5843-D9E6-6232E6687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65635BE-759B-F179-7535-4F91E0852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B3E2-B241-4343-B712-832CE3156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57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FE97A1-725F-15B0-A530-60635BD01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02C18A7-0096-DA66-D37E-6A953D4B30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192043D-BA68-A1B6-AC38-01A3549E58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6DC8386-8A72-F699-0332-A9193F7C1D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97F8-D4A7-4819-86EA-72F3F8CDBDBB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C9F67E1-E07C-77E4-AA80-51BA41A40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85D15F8-C2C4-32D4-60E9-D962AC0B2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B3E2-B241-4343-B712-832CE3156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520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D9C3CE-6661-0384-0518-29FF3279F4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0115BFC-9DE1-1AD6-9A20-CC83B3CAA2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217FA9-D089-64B1-94EB-75C4C4A76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97F8-D4A7-4819-86EA-72F3F8CDBDBB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7F6ED48-F9E9-EFCC-929F-4C003158D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83CFB7-674F-D4BB-CC84-0D5541C4AC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B3E2-B241-4343-B712-832CE3156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173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3924B15D-CB9F-D8DA-58D8-ABE66061A6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C7D37F3-0075-FBF9-A27F-414A954261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74EB40E-7B8B-164F-6930-E79A890B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0297F8-D4A7-4819-86EA-72F3F8CDBDBB}" type="datetimeFigureOut">
              <a:rPr lang="ko-KR" altLang="en-US" smtClean="0"/>
              <a:t>2026-07-26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888F8D-01A5-DC6F-6147-032346DD53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8049E74-D15E-1659-B2DD-C79229F24A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25B3E2-B241-4343-B712-832CE315627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73901952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테마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6D0297F8-D4A7-4819-86EA-72F3F8CDBDBB}" type="datetime1">
              <a:rPr lang="ko-KR" altLang="en-US"/>
              <a:pPr lvl="0">
                <a:defRPr/>
              </a:pPr>
              <a:t>2026-07-26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F225B3E2-B241-4343-B712-832CE3156276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jpe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.png"  /><Relationship Id="rId2" Type="http://schemas.openxmlformats.org/officeDocument/2006/relationships/image" Target="../media/image5.png"  /><Relationship Id="rId3" Type="http://schemas.openxmlformats.org/officeDocument/2006/relationships/image" Target="../media/image6.png"  /><Relationship Id="rId4" Type="http://schemas.openxmlformats.org/officeDocument/2006/relationships/image" Target="../media/image7.png"  /><Relationship Id="rId5" Type="http://schemas.openxmlformats.org/officeDocument/2006/relationships/image" Target="../media/image8.png"  /><Relationship Id="rId6" Type="http://schemas.openxmlformats.org/officeDocument/2006/relationships/image" Target="../media/image9.png"  /><Relationship Id="rId7" Type="http://schemas.openxmlformats.org/officeDocument/2006/relationships/image" Target="../media/image10.png"  /><Relationship Id="rId8" Type="http://schemas.openxmlformats.org/officeDocument/2006/relationships/image" Target="../media/image11.png"  /><Relationship Id="rId9" Type="http://schemas.openxmlformats.org/officeDocument/2006/relationships/image" Target="../media/image1.jpe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2.png"  /><Relationship Id="rId3" Type="http://schemas.openxmlformats.org/officeDocument/2006/relationships/image" Target="../media/image13.png"  /><Relationship Id="rId4" Type="http://schemas.openxmlformats.org/officeDocument/2006/relationships/image" Target="../media/image14.png"  /><Relationship Id="rId5" Type="http://schemas.openxmlformats.org/officeDocument/2006/relationships/image" Target="../media/image15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6.png"  /><Relationship Id="rId3" Type="http://schemas.openxmlformats.org/officeDocument/2006/relationships/image" Target="../media/image17.png"  /><Relationship Id="rId4" Type="http://schemas.openxmlformats.org/officeDocument/2006/relationships/image" Target="../media/image18.png"  /><Relationship Id="rId5" Type="http://schemas.openxmlformats.org/officeDocument/2006/relationships/image" Target="../media/image19.png"  /><Relationship Id="rId6" Type="http://schemas.openxmlformats.org/officeDocument/2006/relationships/image" Target="../media/image20.png"  /><Relationship Id="rId7" Type="http://schemas.openxmlformats.org/officeDocument/2006/relationships/image" Target="../media/image21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2.png"  /><Relationship Id="rId3" Type="http://schemas.openxmlformats.org/officeDocument/2006/relationships/image" Target="../media/image23.png"  /><Relationship Id="rId4" Type="http://schemas.openxmlformats.org/officeDocument/2006/relationships/image" Target="../media/image24.png"  /><Relationship Id="rId5" Type="http://schemas.openxmlformats.org/officeDocument/2006/relationships/image" Target="../media/image25.png"  /><Relationship Id="rId6" Type="http://schemas.openxmlformats.org/officeDocument/2006/relationships/image" Target="../media/image26.png"  /><Relationship Id="rId7" Type="http://schemas.openxmlformats.org/officeDocument/2006/relationships/image" Target="../media/image27.png"  /><Relationship Id="rId8" Type="http://schemas.openxmlformats.org/officeDocument/2006/relationships/image" Target="../media/image28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6.png"  /><Relationship Id="rId11" Type="http://schemas.openxmlformats.org/officeDocument/2006/relationships/image" Target="../media/image37.png"  /><Relationship Id="rId2" Type="http://schemas.openxmlformats.org/officeDocument/2006/relationships/image" Target="../media/image29.png"  /><Relationship Id="rId3" Type="http://schemas.openxmlformats.org/officeDocument/2006/relationships/image" Target="../media/image6.png"  /><Relationship Id="rId4" Type="http://schemas.openxmlformats.org/officeDocument/2006/relationships/image" Target="../media/image30.png"  /><Relationship Id="rId5" Type="http://schemas.openxmlformats.org/officeDocument/2006/relationships/image" Target="../media/image31.png"  /><Relationship Id="rId6" Type="http://schemas.openxmlformats.org/officeDocument/2006/relationships/image" Target="../media/image32.png"  /><Relationship Id="rId7" Type="http://schemas.openxmlformats.org/officeDocument/2006/relationships/image" Target="../media/image33.png"  /><Relationship Id="rId8" Type="http://schemas.openxmlformats.org/officeDocument/2006/relationships/image" Target="../media/image34.png"  /><Relationship Id="rId9" Type="http://schemas.openxmlformats.org/officeDocument/2006/relationships/image" Target="../media/image35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29.png"  /><Relationship Id="rId3" Type="http://schemas.openxmlformats.org/officeDocument/2006/relationships/image" Target="../media/image6.png"  /><Relationship Id="rId4" Type="http://schemas.openxmlformats.org/officeDocument/2006/relationships/image" Target="../media/image30.png"  /><Relationship Id="rId5" Type="http://schemas.openxmlformats.org/officeDocument/2006/relationships/image" Target="../media/image31.png"  /><Relationship Id="rId6" Type="http://schemas.openxmlformats.org/officeDocument/2006/relationships/image" Target="../media/image38.png"  /><Relationship Id="rId7" Type="http://schemas.openxmlformats.org/officeDocument/2006/relationships/image" Target="../media/image39.png"  /><Relationship Id="rId8" Type="http://schemas.openxmlformats.org/officeDocument/2006/relationships/image" Target="../media/image40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5.png"  /><Relationship Id="rId11" Type="http://schemas.openxmlformats.org/officeDocument/2006/relationships/image" Target="../media/image46.png"  /><Relationship Id="rId2" Type="http://schemas.openxmlformats.org/officeDocument/2006/relationships/image" Target="../media/image29.png"  /><Relationship Id="rId3" Type="http://schemas.openxmlformats.org/officeDocument/2006/relationships/image" Target="../media/image6.png"  /><Relationship Id="rId4" Type="http://schemas.openxmlformats.org/officeDocument/2006/relationships/image" Target="../media/image30.png"  /><Relationship Id="rId5" Type="http://schemas.openxmlformats.org/officeDocument/2006/relationships/image" Target="../media/image31.png"  /><Relationship Id="rId6" Type="http://schemas.openxmlformats.org/officeDocument/2006/relationships/image" Target="../media/image41.png"  /><Relationship Id="rId7" Type="http://schemas.openxmlformats.org/officeDocument/2006/relationships/image" Target="../media/image42.png"  /><Relationship Id="rId8" Type="http://schemas.openxmlformats.org/officeDocument/2006/relationships/image" Target="../media/image43.png"  /><Relationship Id="rId9" Type="http://schemas.openxmlformats.org/officeDocument/2006/relationships/image" Target="../media/image44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51.png"  /><Relationship Id="rId2" Type="http://schemas.openxmlformats.org/officeDocument/2006/relationships/image" Target="../media/image29.png"  /><Relationship Id="rId3" Type="http://schemas.openxmlformats.org/officeDocument/2006/relationships/image" Target="../media/image6.png"  /><Relationship Id="rId4" Type="http://schemas.openxmlformats.org/officeDocument/2006/relationships/image" Target="../media/image30.png"  /><Relationship Id="rId5" Type="http://schemas.openxmlformats.org/officeDocument/2006/relationships/image" Target="../media/image31.png"  /><Relationship Id="rId6" Type="http://schemas.openxmlformats.org/officeDocument/2006/relationships/image" Target="../media/image47.png"  /><Relationship Id="rId7" Type="http://schemas.openxmlformats.org/officeDocument/2006/relationships/image" Target="../media/image48.png"  /><Relationship Id="rId8" Type="http://schemas.openxmlformats.org/officeDocument/2006/relationships/image" Target="../media/image49.png"  /><Relationship Id="rId9" Type="http://schemas.openxmlformats.org/officeDocument/2006/relationships/image" Target="../media/image5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vmlDrawing" Target="../drawings/vmlDrawing1.vml"  /><Relationship Id="rId3" Type="http://schemas.openxmlformats.org/officeDocument/2006/relationships/oleObject" Target="../embeddings/oleObject1.bin"  /><Relationship Id="rId4" Type="http://schemas.openxmlformats.org/officeDocument/2006/relationships/image" Target="../media/image5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3.png"  /><Relationship Id="rId3" Type="http://schemas.openxmlformats.org/officeDocument/2006/relationships/hyperlink" Target="https://blog.naver.com/suresofttech/223327497814" TargetMode="External" /><Relationship Id="rId4" Type="http://schemas.openxmlformats.org/officeDocument/2006/relationships/image" Target="../media/image54.png"  /><Relationship Id="rId5" Type="http://schemas.openxmlformats.org/officeDocument/2006/relationships/image" Target="../media/image55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56.jpeg"  /><Relationship Id="rId3" Type="http://schemas.openxmlformats.org/officeDocument/2006/relationships/image" Target="../media/image57.jpeg"  /><Relationship Id="rId4" Type="http://schemas.openxmlformats.org/officeDocument/2006/relationships/image" Target="../media/image58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98785" y="5216853"/>
            <a:ext cx="6179230" cy="9629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ko-KR" altLang="en-US" sz="22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안녕하세요</a:t>
            </a:r>
            <a:r>
              <a:rPr kumimoji="1" lang="en-US" altLang="ko-KR" sz="22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?</a:t>
            </a:r>
          </a:p>
          <a:p>
            <a:pPr>
              <a:lnSpc>
                <a:spcPct val="130000"/>
              </a:lnSpc>
              <a:defRPr/>
            </a:pPr>
            <a:r>
              <a:rPr kumimoji="1" lang="ko-KR" altLang="en-US" sz="220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차량 전장 제어기 </a:t>
            </a:r>
            <a:r>
              <a:rPr kumimoji="1" lang="en-US" altLang="ko-KR" sz="220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SW </a:t>
            </a:r>
            <a:r>
              <a:rPr kumimoji="1" lang="ko-KR" altLang="en-US" sz="220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검증 경력자 선동은 입니다</a:t>
            </a:r>
            <a:r>
              <a:rPr kumimoji="1" lang="en-US" altLang="ko-KR" sz="220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193" y="405506"/>
            <a:ext cx="6883422" cy="18690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en-US" altLang="ko-KR" sz="90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PORT</a:t>
            </a:r>
            <a:r>
              <a:rPr kumimoji="1" lang="en-US" altLang="ko-KR" sz="9000" b="1">
                <a:solidFill>
                  <a:srgbClr val="3057B9"/>
                </a:solidFill>
                <a:latin typeface="Pretendard"/>
                <a:ea typeface="Pretendard"/>
                <a:cs typeface="Pretendard"/>
              </a:rPr>
              <a:t>FOLIO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797087" y="3429000"/>
            <a:ext cx="2766608" cy="2839532"/>
          </a:xfrm>
          <a:prstGeom prst="ellipse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직사각형 28"/>
          <p:cNvSpPr/>
          <p:nvPr/>
        </p:nvSpPr>
        <p:spPr>
          <a:xfrm>
            <a:off x="0" y="0"/>
            <a:ext cx="4656083" cy="6858000"/>
          </a:xfrm>
          <a:prstGeom prst="rect">
            <a:avLst/>
          </a:prstGeom>
          <a:solidFill>
            <a:schemeClr val="accent1"/>
          </a:solidFill>
          <a:ln>
            <a:solidFill>
              <a:schemeClr val="l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02429" y="439733"/>
            <a:ext cx="2451261" cy="7204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en-US" altLang="ko-KR" sz="32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CONTENTS</a:t>
            </a:r>
            <a:endParaRPr kumimoji="1" lang="ko-KR" altLang="en-US" sz="3200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grpSp>
        <p:nvGrpSpPr>
          <p:cNvPr id="32" name="그룹 31"/>
          <p:cNvGrpSpPr/>
          <p:nvPr/>
        </p:nvGrpSpPr>
        <p:grpSpPr>
          <a:xfrm>
            <a:off x="5304363" y="1539046"/>
            <a:ext cx="6367844" cy="4740478"/>
            <a:chOff x="6219509" y="874931"/>
            <a:chExt cx="5030280" cy="4002757"/>
          </a:xfrm>
        </p:grpSpPr>
        <p:grpSp>
          <p:nvGrpSpPr>
            <p:cNvPr id="37" name="그룹 36"/>
            <p:cNvGrpSpPr/>
            <p:nvPr/>
          </p:nvGrpSpPr>
          <p:grpSpPr>
            <a:xfrm>
              <a:off x="6219512" y="874931"/>
              <a:ext cx="4732916" cy="587810"/>
              <a:chOff x="6219510" y="874931"/>
              <a:chExt cx="4732916" cy="587810"/>
            </a:xfrm>
          </p:grpSpPr>
          <p:sp>
            <p:nvSpPr>
              <p:cNvPr id="70" name="TextBox 69"/>
              <p:cNvSpPr txBox="1"/>
              <p:nvPr/>
            </p:nvSpPr>
            <p:spPr>
              <a:xfrm>
                <a:off x="6585015" y="874937"/>
                <a:ext cx="718464" cy="2785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ko-KR" altLang="en-US" sz="1600">
                    <a:latin typeface="Pretendard"/>
                    <a:ea typeface="Pretendard"/>
                    <a:cs typeface="Pretendard"/>
                  </a:rPr>
                  <a:t>프로필</a:t>
                </a:r>
              </a:p>
            </p:txBody>
          </p:sp>
          <p:pic>
            <p:nvPicPr>
              <p:cNvPr id="71" name="그래픽 70"/>
              <p:cNvPicPr>
                <a:picLocks noChangeAspect="1"/>
              </p:cNvPicPr>
              <p:nvPr/>
            </p:nvPicPr>
            <p:blipFill rotWithShape="1">
              <a:blip r:embed="rId2"/>
              <a:stretch>
                <a:fillRect/>
              </a:stretch>
            </p:blipFill>
            <p:spPr>
              <a:xfrm>
                <a:off x="6219510" y="880835"/>
                <a:ext cx="310235" cy="310235"/>
              </a:xfrm>
              <a:prstGeom prst="rect">
                <a:avLst/>
              </a:prstGeom>
            </p:spPr>
          </p:pic>
          <p:sp>
            <p:nvSpPr>
              <p:cNvPr id="72" name="TextBox 71"/>
              <p:cNvSpPr txBox="1"/>
              <p:nvPr/>
            </p:nvSpPr>
            <p:spPr>
              <a:xfrm>
                <a:off x="6544704" y="1213485"/>
                <a:ext cx="3962883" cy="24925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인적사항 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/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 경력사항 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/ 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학력사항 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/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 자격사항 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/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 교육내용 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/ 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수상이력</a:t>
                </a:r>
              </a:p>
            </p:txBody>
          </p:sp>
          <p:cxnSp>
            <p:nvCxnSpPr>
              <p:cNvPr id="73" name="직선 연결선[R] 32"/>
              <p:cNvCxnSpPr>
                <a:stCxn id="70" idx="3"/>
              </p:cNvCxnSpPr>
              <p:nvPr/>
            </p:nvCxnSpPr>
            <p:spPr>
              <a:xfrm>
                <a:off x="7303480" y="1044215"/>
                <a:ext cx="2940673" cy="0"/>
              </a:xfrm>
              <a:prstGeom prst="line">
                <a:avLst/>
              </a:prstGeom>
              <a:ln w="9525" cap="rnd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TextBox 73"/>
              <p:cNvSpPr txBox="1"/>
              <p:nvPr/>
            </p:nvSpPr>
            <p:spPr>
              <a:xfrm>
                <a:off x="10288745" y="874931"/>
                <a:ext cx="663681" cy="27863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>
                    <a:latin typeface="Pretendard"/>
                    <a:ea typeface="Pretendard"/>
                    <a:cs typeface="Pretendard"/>
                  </a:rPr>
                  <a:t>3</a:t>
                </a:r>
              </a:p>
            </p:txBody>
          </p:sp>
        </p:grpSp>
        <p:grpSp>
          <p:nvGrpSpPr>
            <p:cNvPr id="45" name="그룹 44"/>
            <p:cNvGrpSpPr/>
            <p:nvPr/>
          </p:nvGrpSpPr>
          <p:grpSpPr>
            <a:xfrm>
              <a:off x="6219509" y="2101236"/>
              <a:ext cx="4625797" cy="588486"/>
              <a:chOff x="6219510" y="2101236"/>
              <a:chExt cx="4625797" cy="588486"/>
            </a:xfrm>
          </p:grpSpPr>
          <p:sp>
            <p:nvSpPr>
              <p:cNvPr id="65" name="TextBox 64"/>
              <p:cNvSpPr txBox="1"/>
              <p:nvPr/>
            </p:nvSpPr>
            <p:spPr>
              <a:xfrm>
                <a:off x="6598640" y="2106147"/>
                <a:ext cx="896398" cy="2858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ko-KR" altLang="en-US" sz="1600">
                    <a:latin typeface="Pretendard"/>
                    <a:ea typeface="Pretendard"/>
                    <a:cs typeface="Pretendard"/>
                  </a:rPr>
                  <a:t>경력사항</a:t>
                </a:r>
              </a:p>
            </p:txBody>
          </p:sp>
          <p:pic>
            <p:nvPicPr>
              <p:cNvPr id="66" name="그래픽 65"/>
              <p:cNvPicPr>
                <a:picLocks noChangeAspect="1"/>
              </p:cNvPicPr>
              <p:nvPr/>
            </p:nvPicPr>
            <p:blipFill rotWithShape="1">
              <a:blip r:embed="rId3"/>
              <a:stretch>
                <a:fillRect/>
              </a:stretch>
            </p:blipFill>
            <p:spPr>
              <a:xfrm>
                <a:off x="6219510" y="2115398"/>
                <a:ext cx="310234" cy="310234"/>
              </a:xfrm>
              <a:prstGeom prst="rect">
                <a:avLst/>
              </a:prstGeom>
            </p:spPr>
          </p:pic>
          <p:sp>
            <p:nvSpPr>
              <p:cNvPr id="67" name="TextBox 66"/>
              <p:cNvSpPr txBox="1"/>
              <p:nvPr/>
            </p:nvSpPr>
            <p:spPr>
              <a:xfrm>
                <a:off x="10288745" y="2101236"/>
                <a:ext cx="556562" cy="2828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>
                    <a:latin typeface="Pretendard"/>
                    <a:ea typeface="Pretendard"/>
                    <a:cs typeface="Pretendard"/>
                  </a:rPr>
                  <a:t>4~6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6544704" y="2444079"/>
                <a:ext cx="3156224" cy="24564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두원중공업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(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주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)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 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/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 슈어소프트테크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(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주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)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 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/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 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(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주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)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큐아이엠</a:t>
                </a:r>
              </a:p>
            </p:txBody>
          </p:sp>
          <p:cxnSp>
            <p:nvCxnSpPr>
              <p:cNvPr id="69" name="직선 연결선[R] 32"/>
              <p:cNvCxnSpPr>
                <a:stCxn id="65" idx="3"/>
              </p:cNvCxnSpPr>
              <p:nvPr/>
            </p:nvCxnSpPr>
            <p:spPr>
              <a:xfrm flipV="1">
                <a:off x="7495039" y="2273749"/>
                <a:ext cx="2749114" cy="1676"/>
              </a:xfrm>
              <a:prstGeom prst="line">
                <a:avLst/>
              </a:prstGeom>
              <a:ln w="9525" cap="rnd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6" name="그룹 45"/>
            <p:cNvGrpSpPr/>
            <p:nvPr/>
          </p:nvGrpSpPr>
          <p:grpSpPr>
            <a:xfrm>
              <a:off x="6219510" y="3310760"/>
              <a:ext cx="5030279" cy="601453"/>
              <a:chOff x="6219510" y="3264569"/>
              <a:chExt cx="5030279" cy="601453"/>
            </a:xfrm>
          </p:grpSpPr>
          <p:sp>
            <p:nvSpPr>
              <p:cNvPr id="60" name="TextBox 59"/>
              <p:cNvSpPr txBox="1"/>
              <p:nvPr/>
            </p:nvSpPr>
            <p:spPr>
              <a:xfrm>
                <a:off x="6598640" y="3264569"/>
                <a:ext cx="896398" cy="27964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ko-KR" altLang="en-US" sz="1600">
                    <a:latin typeface="Pretendard"/>
                    <a:ea typeface="Pretendard"/>
                    <a:cs typeface="Pretendard"/>
                  </a:rPr>
                  <a:t>프로젝트</a:t>
                </a:r>
              </a:p>
            </p:txBody>
          </p:sp>
          <p:pic>
            <p:nvPicPr>
              <p:cNvPr id="61" name="그래픽 60"/>
              <p:cNvPicPr>
                <a:picLocks noChangeAspect="1"/>
              </p:cNvPicPr>
              <p:nvPr/>
            </p:nvPicPr>
            <p:blipFill rotWithShape="1">
              <a:blip r:embed="rId4"/>
              <a:stretch>
                <a:fillRect/>
              </a:stretch>
            </p:blipFill>
            <p:spPr>
              <a:xfrm>
                <a:off x="6219510" y="3291137"/>
                <a:ext cx="261056" cy="261056"/>
              </a:xfrm>
              <a:prstGeom prst="rect">
                <a:avLst/>
              </a:prstGeom>
            </p:spPr>
          </p:pic>
          <p:sp>
            <p:nvSpPr>
              <p:cNvPr id="62" name="TextBox 61"/>
              <p:cNvSpPr txBox="1"/>
              <p:nvPr/>
            </p:nvSpPr>
            <p:spPr>
              <a:xfrm>
                <a:off x="10288747" y="3265886"/>
                <a:ext cx="636712" cy="2858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en-US" altLang="ko-KR" sz="1600">
                    <a:latin typeface="Pretendard"/>
                    <a:ea typeface="Pretendard"/>
                    <a:cs typeface="Pretendard"/>
                  </a:rPr>
                  <a:t>7~10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6544704" y="3622967"/>
                <a:ext cx="4705085" cy="24305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>
                  <a:defRPr/>
                </a:pP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전동 컴프레셔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 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인버터 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SW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 검증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/ 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디지털 키 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2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 실차 검증</a:t>
                </a:r>
                <a:r>
                  <a:rPr lang="en-US" altLang="ko-KR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 / AVN</a:t>
                </a:r>
                <a:r>
                  <a:rPr lang="ko-KR" altLang="en-US" sz="1300">
                    <a:solidFill>
                      <a:schemeClr val="bg2">
                        <a:lumMod val="50000"/>
                      </a:schemeClr>
                    </a:solidFill>
                    <a:latin typeface="Pretendard"/>
                    <a:ea typeface="Pretendard"/>
                    <a:cs typeface="Pretendard"/>
                  </a:rPr>
                  <a:t> 자동화 검증</a:t>
                </a:r>
              </a:p>
            </p:txBody>
          </p:sp>
          <p:cxnSp>
            <p:nvCxnSpPr>
              <p:cNvPr id="64" name="직선 연결선[R] 32"/>
              <p:cNvCxnSpPr/>
              <p:nvPr/>
            </p:nvCxnSpPr>
            <p:spPr>
              <a:xfrm flipV="1">
                <a:off x="7549541" y="3427324"/>
                <a:ext cx="2694612" cy="1676"/>
              </a:xfrm>
              <a:prstGeom prst="line">
                <a:avLst/>
              </a:prstGeom>
              <a:ln w="9525" cap="rnd">
                <a:solidFill>
                  <a:schemeClr val="tx1">
                    <a:lumMod val="50000"/>
                    <a:lumOff val="50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5" name="TextBox 54"/>
            <p:cNvSpPr txBox="1"/>
            <p:nvPr/>
          </p:nvSpPr>
          <p:spPr>
            <a:xfrm>
              <a:off x="6871335" y="4539134"/>
              <a:ext cx="249555" cy="338554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algn="ctr">
                <a:defRPr/>
              </a:pPr>
              <a:endParaRPr lang="en-US" altLang="ko-KR" sz="1600">
                <a:latin typeface="Pretendard"/>
                <a:ea typeface="Pretendard"/>
                <a:cs typeface="Pretendard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984885" y="3859961"/>
            <a:ext cx="830580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400" b="1">
                <a:latin typeface="Pretendard"/>
                <a:ea typeface="Pretendard"/>
                <a:cs typeface="Pretendard"/>
              </a:rPr>
              <a:t>선 동 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2429" y="366161"/>
            <a:ext cx="1727361" cy="7273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en-US" altLang="ko-KR" sz="32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ABOUT.</a:t>
            </a:r>
            <a:endParaRPr kumimoji="1" lang="ko-KR" altLang="en-US" sz="3200" b="1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14423" y="4128149"/>
            <a:ext cx="132491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300">
                <a:latin typeface="Pretendard"/>
                <a:ea typeface="Pretendard"/>
                <a:cs typeface="Pretendard"/>
              </a:rPr>
              <a:t>Dongeun Seon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423" y="4424177"/>
            <a:ext cx="170751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300">
                <a:latin typeface="Pretendard"/>
                <a:ea typeface="Pretendard"/>
                <a:cs typeface="Pretendard"/>
              </a:rPr>
              <a:t>1995. 11. 29 / </a:t>
            </a:r>
            <a:r>
              <a:rPr lang="ko-KR" altLang="en-US" sz="1300">
                <a:latin typeface="Pretendard"/>
                <a:ea typeface="Pretendard"/>
                <a:cs typeface="Pretendard"/>
              </a:rPr>
              <a:t>만 </a:t>
            </a:r>
            <a:r>
              <a:rPr lang="en-US" altLang="ko-KR" sz="1300">
                <a:latin typeface="Pretendard"/>
                <a:ea typeface="Pretendard"/>
                <a:cs typeface="Pretendard"/>
              </a:rPr>
              <a:t>30</a:t>
            </a:r>
            <a:r>
              <a:rPr lang="ko-KR" altLang="en-US" sz="1300">
                <a:latin typeface="Pretendard"/>
                <a:ea typeface="Pretendard"/>
                <a:cs typeface="Pretendard"/>
              </a:rPr>
              <a:t>세</a:t>
            </a:r>
          </a:p>
        </p:txBody>
      </p:sp>
      <p:pic>
        <p:nvPicPr>
          <p:cNvPr id="12" name="그래픽 1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67088" y="4983905"/>
            <a:ext cx="220162" cy="220162"/>
          </a:xfrm>
          <a:prstGeom prst="rect">
            <a:avLst/>
          </a:prstGeom>
        </p:spPr>
      </p:pic>
      <p:pic>
        <p:nvPicPr>
          <p:cNvPr id="13" name="그래픽 1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72533" y="5331784"/>
            <a:ext cx="186611" cy="18661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287250" y="4946723"/>
            <a:ext cx="1556914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300">
                <a:latin typeface="Pretendard"/>
                <a:ea typeface="Pretendard"/>
                <a:cs typeface="Pretendard"/>
              </a:rPr>
              <a:t>+82</a:t>
            </a:r>
            <a:r>
              <a:rPr lang="ko-KR" altLang="en-US" sz="1300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latin typeface="Pretendard"/>
                <a:ea typeface="Pretendard"/>
                <a:cs typeface="Pretendard"/>
              </a:rPr>
              <a:t>10</a:t>
            </a:r>
            <a:r>
              <a:rPr lang="ko-KR" altLang="en-US" sz="1300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latin typeface="Pretendard"/>
                <a:ea typeface="Pretendard"/>
                <a:cs typeface="Pretendard"/>
              </a:rPr>
              <a:t>3734</a:t>
            </a:r>
            <a:r>
              <a:rPr lang="ko-KR" altLang="en-US" sz="1300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latin typeface="Pretendard"/>
                <a:ea typeface="Pretendard"/>
                <a:cs typeface="Pretendard"/>
              </a:rPr>
              <a:t>7378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7250" y="5274383"/>
            <a:ext cx="163311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300">
                <a:latin typeface="Pretendard"/>
                <a:ea typeface="Pretendard"/>
                <a:cs typeface="Pretendard"/>
              </a:rPr>
              <a:t>jltbh99@naver.com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1449" y="1245191"/>
            <a:ext cx="8066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400">
                <a:latin typeface="Pretendard"/>
                <a:ea typeface="Pretendard"/>
                <a:cs typeface="Pretendard"/>
              </a:rPr>
              <a:t>경력사항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7643" y="1586817"/>
            <a:ext cx="3171422" cy="602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2024.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06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~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재직중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두원중공업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주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전장개발팀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선임연구원</a:t>
            </a:r>
          </a:p>
        </p:txBody>
      </p:sp>
      <p:cxnSp>
        <p:nvCxnSpPr>
          <p:cNvPr id="23" name="직선 연결선[R] 22"/>
          <p:cNvCxnSpPr/>
          <p:nvPr/>
        </p:nvCxnSpPr>
        <p:spPr>
          <a:xfrm>
            <a:off x="4197531" y="1132114"/>
            <a:ext cx="0" cy="4778474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903359" y="3761129"/>
            <a:ext cx="8066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>
                <a:latin typeface="Pretendard"/>
                <a:ea typeface="Pretendard"/>
                <a:cs typeface="Pretendard"/>
              </a:rPr>
              <a:t>학력사항</a:t>
            </a:r>
          </a:p>
        </p:txBody>
      </p:sp>
      <p:cxnSp>
        <p:nvCxnSpPr>
          <p:cNvPr id="32" name="직선 연결선[R] 31"/>
          <p:cNvCxnSpPr/>
          <p:nvPr/>
        </p:nvCxnSpPr>
        <p:spPr>
          <a:xfrm>
            <a:off x="8582297" y="1132114"/>
            <a:ext cx="0" cy="4778474"/>
          </a:xfrm>
          <a:prstGeom prst="line">
            <a:avLst/>
          </a:prstGeom>
          <a:ln w="15875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171155" y="4997480"/>
            <a:ext cx="906780" cy="295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400">
                <a:latin typeface="Pretendard"/>
                <a:ea typeface="Pretendard"/>
                <a:cs typeface="Pretendard"/>
              </a:rPr>
              <a:t>수상이력</a:t>
            </a:r>
          </a:p>
        </p:txBody>
      </p:sp>
      <p:pic>
        <p:nvPicPr>
          <p:cNvPr id="74" name="그래픽 7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839439" y="1291865"/>
            <a:ext cx="310067" cy="310066"/>
          </a:xfrm>
          <a:prstGeom prst="rect">
            <a:avLst/>
          </a:prstGeom>
        </p:spPr>
      </p:pic>
      <p:pic>
        <p:nvPicPr>
          <p:cNvPr id="75" name="그래픽 7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909898" y="4975885"/>
            <a:ext cx="310067" cy="310066"/>
          </a:xfrm>
          <a:prstGeom prst="rect">
            <a:avLst/>
          </a:prstGeom>
        </p:spPr>
      </p:pic>
      <p:pic>
        <p:nvPicPr>
          <p:cNvPr id="76" name="그래픽 75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639907" y="3760463"/>
            <a:ext cx="310067" cy="310066"/>
          </a:xfrm>
          <a:prstGeom prst="rect">
            <a:avLst/>
          </a:prstGeom>
        </p:spPr>
      </p:pic>
      <p:pic>
        <p:nvPicPr>
          <p:cNvPr id="77" name="그래픽 76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639908" y="1242272"/>
            <a:ext cx="310067" cy="310066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4587643" y="2217665"/>
            <a:ext cx="4070345" cy="58984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2023. 05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~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2024. 03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슈어소프트테크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주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모빌리티솔루션팀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전임연구원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898434" y="5273270"/>
            <a:ext cx="2455163" cy="60202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2018. 09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금상 수상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3D 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프린팅 로봇팔 제작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LINC+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818073" y="1892550"/>
            <a:ext cx="1950891" cy="343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2022. 11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정보처리기사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120987" y="1294386"/>
            <a:ext cx="914552" cy="294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>
                <a:latin typeface="Pretendard"/>
                <a:ea typeface="Pretendard"/>
                <a:cs typeface="Pretendard"/>
              </a:rPr>
              <a:t>자격사항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818627" y="1616962"/>
            <a:ext cx="2445638" cy="3432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2024. 01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Cos Pro(C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언어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 2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급</a:t>
            </a:r>
            <a:endParaRPr lang="en-US" altLang="ko-KR" sz="1300">
              <a:solidFill>
                <a:schemeClr val="bg2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4587643" y="4045837"/>
            <a:ext cx="3571472" cy="60045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2025.08 ~ 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재학중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석사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아주대학교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IT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융합대학원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정보전자전공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주간</a:t>
            </a:r>
          </a:p>
        </p:txBody>
      </p:sp>
      <p:pic>
        <p:nvPicPr>
          <p:cNvPr id="2" name="그래픽 1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067088" y="5638156"/>
            <a:ext cx="220162" cy="22016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87250" y="5602043"/>
            <a:ext cx="1747415" cy="28250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300">
                <a:latin typeface="Pretendard"/>
                <a:ea typeface="Pretendard"/>
                <a:cs typeface="Pretendard"/>
              </a:rPr>
              <a:t>수원시 팔달구 매교동</a:t>
            </a:r>
          </a:p>
        </p:txBody>
      </p:sp>
      <p:pic>
        <p:nvPicPr>
          <p:cNvPr id="88" name="그림 87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12895" y="1243854"/>
            <a:ext cx="2619623" cy="2494017"/>
          </a:xfrm>
          <a:prstGeom prst="ellipse">
            <a:avLst/>
          </a:prstGeom>
        </p:spPr>
      </p:pic>
      <p:sp>
        <p:nvSpPr>
          <p:cNvPr id="90" name="TextBox 79"/>
          <p:cNvSpPr txBox="1"/>
          <p:nvPr/>
        </p:nvSpPr>
        <p:spPr>
          <a:xfrm>
            <a:off x="4595405" y="2872773"/>
            <a:ext cx="2735035" cy="60194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2019. 01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~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2023. 05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주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큐아이엠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자동화 평가팀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주임</a:t>
            </a:r>
          </a:p>
        </p:txBody>
      </p:sp>
      <p:sp>
        <p:nvSpPr>
          <p:cNvPr id="91" name="TextBox 37"/>
          <p:cNvSpPr txBox="1"/>
          <p:nvPr/>
        </p:nvSpPr>
        <p:spPr>
          <a:xfrm>
            <a:off x="4595404" y="4692126"/>
            <a:ext cx="3831564" cy="601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2021.03 ~ 2022.02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학사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동서울대학교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전자공학과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전공심화과정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야간</a:t>
            </a:r>
          </a:p>
        </p:txBody>
      </p:sp>
      <p:sp>
        <p:nvSpPr>
          <p:cNvPr id="92" name="TextBox 37"/>
          <p:cNvSpPr txBox="1"/>
          <p:nvPr/>
        </p:nvSpPr>
        <p:spPr>
          <a:xfrm>
            <a:off x="4611985" y="5338414"/>
            <a:ext cx="3725729" cy="603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2014.03 ~ 2019.02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전문학사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동서울대학교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전자공학과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(3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년제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 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주간</a:t>
            </a:r>
          </a:p>
        </p:txBody>
      </p:sp>
      <p:sp>
        <p:nvSpPr>
          <p:cNvPr id="99" name="TextBox 83"/>
          <p:cNvSpPr txBox="1"/>
          <p:nvPr/>
        </p:nvSpPr>
        <p:spPr>
          <a:xfrm>
            <a:off x="8821678" y="2183662"/>
            <a:ext cx="1956812" cy="34808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2019. 07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ISTQB CTFL</a:t>
            </a:r>
          </a:p>
        </p:txBody>
      </p:sp>
      <p:sp>
        <p:nvSpPr>
          <p:cNvPr id="100" name="TextBox 83"/>
          <p:cNvSpPr txBox="1"/>
          <p:nvPr/>
        </p:nvSpPr>
        <p:spPr>
          <a:xfrm>
            <a:off x="8832867" y="2463091"/>
            <a:ext cx="2688573" cy="34719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2013. 12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자동차운전면허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종보통</a:t>
            </a:r>
          </a:p>
        </p:txBody>
      </p:sp>
      <p:sp>
        <p:nvSpPr>
          <p:cNvPr id="105" name="TextBox 16"/>
          <p:cNvSpPr txBox="1"/>
          <p:nvPr/>
        </p:nvSpPr>
        <p:spPr>
          <a:xfrm>
            <a:off x="9109526" y="2991225"/>
            <a:ext cx="954405" cy="2959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ko-KR" altLang="en-US" sz="1400">
                <a:latin typeface="Pretendard"/>
                <a:ea typeface="Pretendard"/>
                <a:cs typeface="Pretendard"/>
              </a:rPr>
              <a:t>교육 내용</a:t>
            </a:r>
          </a:p>
        </p:txBody>
      </p:sp>
      <p:pic>
        <p:nvPicPr>
          <p:cNvPr id="106" name="그래픽 71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882188" y="2953019"/>
            <a:ext cx="309998" cy="309998"/>
          </a:xfrm>
          <a:prstGeom prst="rect">
            <a:avLst/>
          </a:prstGeom>
        </p:spPr>
      </p:pic>
      <p:sp>
        <p:nvSpPr>
          <p:cNvPr id="107" name="TextBox 82"/>
          <p:cNvSpPr txBox="1"/>
          <p:nvPr/>
        </p:nvSpPr>
        <p:spPr>
          <a:xfrm>
            <a:off x="8856080" y="3232761"/>
            <a:ext cx="3379735" cy="1632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2025.07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VectorCAST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사용자 교육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2025.07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현대차그룹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A-SPICE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Conference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2024.07 / A-SPICE 4.0 Process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교육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2024.02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빅데이터 및 인공지능 트렌드 이해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2023.11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SW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품질 테스터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2023.01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QA</a:t>
            </a:r>
            <a:r>
              <a:rPr lang="ko-KR" altLang="en-US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>
                <a:solidFill>
                  <a:schemeClr val="bg2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Korea Conference 2023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-6352" y="4813875"/>
            <a:ext cx="12198352" cy="2044125"/>
          </a:xfrm>
          <a:prstGeom prst="rect">
            <a:avLst/>
          </a:prstGeom>
          <a:solidFill>
            <a:srgbClr val="F1F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사각형: 둥근 모서리 8"/>
          <p:cNvSpPr/>
          <p:nvPr/>
        </p:nvSpPr>
        <p:spPr>
          <a:xfrm>
            <a:off x="1072022" y="3566913"/>
            <a:ext cx="2149947" cy="2493923"/>
          </a:xfrm>
          <a:prstGeom prst="roundRect">
            <a:avLst>
              <a:gd name="adj" fmla="val 7439"/>
            </a:avLst>
          </a:prstGeom>
          <a:solidFill>
            <a:schemeClr val="bg1"/>
          </a:solidFill>
          <a:ln>
            <a:noFill/>
          </a:ln>
          <a:effectLst>
            <a:outerShdw blurRad="261522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>
              <a:solidFill>
                <a:schemeClr val="tx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253080" y="3671596"/>
            <a:ext cx="1295810" cy="298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SW EV</a:t>
            </a: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(PV5)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429" y="366161"/>
            <a:ext cx="2832261" cy="7273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en-US" altLang="ko-KR" sz="32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4818" y="572872"/>
            <a:ext cx="2129109" cy="9081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2024. 06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~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두원중공업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주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전장개발팀 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선임연구원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835" y="3107609"/>
            <a:ext cx="423514" cy="418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01</a:t>
            </a:r>
            <a:endParaRPr lang="ko-KR" altLang="en-US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30" name="직선 연결선[R] 29"/>
          <p:cNvCxnSpPr/>
          <p:nvPr/>
        </p:nvCxnSpPr>
        <p:spPr>
          <a:xfrm>
            <a:off x="3766429" y="558798"/>
            <a:ext cx="7932144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66740" y="5052341"/>
            <a:ext cx="1997499" cy="727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고객사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현대자동차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기간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24.06 ~ 25.05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목적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A-SPICE CL1 / SOP</a:t>
            </a:r>
          </a:p>
          <a:p>
            <a:pPr marL="149940" indent="-14994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역할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SWE.6</a:t>
            </a:r>
          </a:p>
        </p:txBody>
      </p:sp>
      <p:sp>
        <p:nvSpPr>
          <p:cNvPr id="36" name="사각형: 둥근 모서리 8"/>
          <p:cNvSpPr/>
          <p:nvPr/>
        </p:nvSpPr>
        <p:spPr>
          <a:xfrm>
            <a:off x="3687631" y="3566913"/>
            <a:ext cx="2149947" cy="2493923"/>
          </a:xfrm>
          <a:prstGeom prst="roundRect">
            <a:avLst>
              <a:gd name="adj" fmla="val 7439"/>
            </a:avLst>
          </a:prstGeom>
          <a:solidFill>
            <a:schemeClr val="bg1"/>
          </a:solidFill>
          <a:ln>
            <a:noFill/>
          </a:ln>
          <a:effectLst>
            <a:outerShdw blurRad="261522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>
              <a:solidFill>
                <a:schemeClr val="tx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868689" y="3671596"/>
            <a:ext cx="1756776" cy="298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NX5 HEV (Tucson)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23444" y="3107609"/>
            <a:ext cx="458780" cy="418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02</a:t>
            </a:r>
            <a:endParaRPr lang="ko-KR" altLang="en-US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사각형: 둥근 모서리 8"/>
          <p:cNvSpPr/>
          <p:nvPr/>
        </p:nvSpPr>
        <p:spPr>
          <a:xfrm>
            <a:off x="6303241" y="3566913"/>
            <a:ext cx="2149947" cy="2493923"/>
          </a:xfrm>
          <a:prstGeom prst="roundRect">
            <a:avLst>
              <a:gd name="adj" fmla="val 7439"/>
            </a:avLst>
          </a:prstGeom>
          <a:solidFill>
            <a:schemeClr val="bg1"/>
          </a:solidFill>
          <a:ln>
            <a:noFill/>
          </a:ln>
          <a:effectLst>
            <a:outerShdw blurRad="261522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>
              <a:solidFill>
                <a:schemeClr val="tx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84299" y="3671596"/>
            <a:ext cx="1274766" cy="298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LW EV (PV7)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9054" y="3107609"/>
            <a:ext cx="465192" cy="418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03</a:t>
            </a:r>
            <a:endParaRPr lang="ko-KR" altLang="en-US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5" name="사각형: 둥근 모서리 8"/>
          <p:cNvSpPr/>
          <p:nvPr/>
        </p:nvSpPr>
        <p:spPr>
          <a:xfrm>
            <a:off x="8918850" y="3566913"/>
            <a:ext cx="2149947" cy="2493923"/>
          </a:xfrm>
          <a:prstGeom prst="roundRect">
            <a:avLst>
              <a:gd name="adj" fmla="val 7439"/>
            </a:avLst>
          </a:prstGeom>
          <a:solidFill>
            <a:schemeClr val="bg1"/>
          </a:solidFill>
          <a:ln>
            <a:noFill/>
          </a:ln>
          <a:effectLst>
            <a:outerShdw blurRad="261522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>
              <a:solidFill>
                <a:schemeClr val="tx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9099908" y="3671596"/>
            <a:ext cx="1449982" cy="298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SX3 EV (Kona)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54663" y="3107609"/>
            <a:ext cx="466794" cy="418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04</a:t>
            </a:r>
            <a:endParaRPr lang="ko-KR" altLang="en-US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19430" y="584202"/>
            <a:ext cx="5279141" cy="385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3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HKMC </a:t>
            </a:r>
            <a:r>
              <a:rPr lang="ko-KR" altLang="en-US" sz="13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전동 컴프레셔 인버터 </a:t>
            </a:r>
            <a:r>
              <a:rPr lang="en-US" altLang="ko-KR" sz="13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SW</a:t>
            </a:r>
            <a:r>
              <a:rPr lang="ko-KR" altLang="en-US" sz="13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검증 </a:t>
            </a:r>
            <a:r>
              <a:rPr lang="en-US" altLang="ko-KR" sz="13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(SWE.4/5/6)</a:t>
            </a:r>
          </a:p>
        </p:txBody>
      </p:sp>
      <p:sp>
        <p:nvSpPr>
          <p:cNvPr id="89" name="TextBox 34"/>
          <p:cNvSpPr txBox="1"/>
          <p:nvPr/>
        </p:nvSpPr>
        <p:spPr>
          <a:xfrm>
            <a:off x="3751251" y="5074166"/>
            <a:ext cx="1997499" cy="727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고객사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현대자동차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기간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25.05 ~ 26.09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목적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ES95490-10 / SOP</a:t>
            </a:r>
          </a:p>
          <a:p>
            <a:pPr marL="149940" indent="-14994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역할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SWE.4/5/6</a:t>
            </a:r>
          </a:p>
        </p:txBody>
      </p:sp>
      <p:sp>
        <p:nvSpPr>
          <p:cNvPr id="90" name="TextBox 34"/>
          <p:cNvSpPr txBox="1"/>
          <p:nvPr/>
        </p:nvSpPr>
        <p:spPr>
          <a:xfrm>
            <a:off x="6409743" y="5068246"/>
            <a:ext cx="1997499" cy="721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고객사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현대자동차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기간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25.08 ~ 27.04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목적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ES95490-10 / SOP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역할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SWE.4/5/6 , OTA </a:t>
            </a:r>
          </a:p>
        </p:txBody>
      </p:sp>
      <p:sp>
        <p:nvSpPr>
          <p:cNvPr id="91" name="TextBox 34"/>
          <p:cNvSpPr txBox="1"/>
          <p:nvPr/>
        </p:nvSpPr>
        <p:spPr>
          <a:xfrm>
            <a:off x="9003503" y="5091181"/>
            <a:ext cx="1997499" cy="727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고객사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현대자동차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기간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25.10 ~ 27.09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목적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A-SPICE CL1 / SOP</a:t>
            </a:r>
          </a:p>
          <a:p>
            <a:pPr marL="149940" indent="-14994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역할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SWE.6</a:t>
            </a:r>
          </a:p>
        </p:txBody>
      </p:sp>
      <p:pic>
        <p:nvPicPr>
          <p:cNvPr id="92" name="그림 9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0192" y="107226"/>
            <a:ext cx="1664736" cy="359347"/>
          </a:xfrm>
          <a:prstGeom prst="rect">
            <a:avLst/>
          </a:prstGeom>
        </p:spPr>
      </p:pic>
      <p:pic>
        <p:nvPicPr>
          <p:cNvPr id="94" name="그림 9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31900" y="4067704"/>
            <a:ext cx="1856669" cy="928335"/>
          </a:xfrm>
          <a:prstGeom prst="rect">
            <a:avLst/>
          </a:prstGeom>
        </p:spPr>
      </p:pic>
      <p:pic>
        <p:nvPicPr>
          <p:cNvPr id="100" name="그림 99"/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2847673" y="3654827"/>
            <a:ext cx="306038" cy="306038"/>
          </a:xfrm>
          <a:prstGeom prst="rect">
            <a:avLst/>
          </a:prstGeom>
        </p:spPr>
      </p:pic>
      <p:pic>
        <p:nvPicPr>
          <p:cNvPr id="102" name="그림 101"/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5505097" y="3614736"/>
            <a:ext cx="306038" cy="306038"/>
          </a:xfrm>
          <a:prstGeom prst="rect">
            <a:avLst/>
          </a:prstGeom>
        </p:spPr>
      </p:pic>
      <p:pic>
        <p:nvPicPr>
          <p:cNvPr id="103" name="그림 102"/>
          <p:cNvPicPr/>
          <p:nvPr/>
        </p:nvPicPr>
        <p:blipFill rotWithShape="1">
          <a:blip r:embed="rId5"/>
          <a:stretch>
            <a:fillRect/>
          </a:stretch>
        </p:blipFill>
        <p:spPr>
          <a:xfrm>
            <a:off x="8096254" y="3635372"/>
            <a:ext cx="306038" cy="306038"/>
          </a:xfrm>
          <a:prstGeom prst="rect">
            <a:avLst/>
          </a:prstGeom>
        </p:spPr>
      </p:pic>
      <p:pic>
        <p:nvPicPr>
          <p:cNvPr id="104" name="그림 103"/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10731674" y="3635530"/>
            <a:ext cx="306038" cy="306038"/>
          </a:xfrm>
          <a:prstGeom prst="rect">
            <a:avLst/>
          </a:prstGeom>
        </p:spPr>
      </p:pic>
      <p:pic>
        <p:nvPicPr>
          <p:cNvPr id="105" name="그림 10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53744" y="4104042"/>
            <a:ext cx="1856669" cy="928335"/>
          </a:xfrm>
          <a:prstGeom prst="rect">
            <a:avLst/>
          </a:prstGeom>
        </p:spPr>
      </p:pic>
      <p:pic>
        <p:nvPicPr>
          <p:cNvPr id="106" name="그림 10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6484409" y="4099103"/>
            <a:ext cx="1856669" cy="928335"/>
          </a:xfrm>
          <a:prstGeom prst="rect">
            <a:avLst/>
          </a:prstGeom>
        </p:spPr>
      </p:pic>
      <p:pic>
        <p:nvPicPr>
          <p:cNvPr id="107" name="그림 10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9097434" y="4119212"/>
            <a:ext cx="1856669" cy="92833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-6352" y="4813875"/>
            <a:ext cx="12198352" cy="2044125"/>
          </a:xfrm>
          <a:prstGeom prst="rect">
            <a:avLst/>
          </a:prstGeom>
          <a:solidFill>
            <a:srgbClr val="F1F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사각형: 둥근 모서리 8"/>
          <p:cNvSpPr/>
          <p:nvPr/>
        </p:nvSpPr>
        <p:spPr>
          <a:xfrm>
            <a:off x="1072022" y="3566913"/>
            <a:ext cx="2149947" cy="2493923"/>
          </a:xfrm>
          <a:prstGeom prst="roundRect">
            <a:avLst>
              <a:gd name="adj" fmla="val 7439"/>
            </a:avLst>
          </a:prstGeom>
          <a:solidFill>
            <a:schemeClr val="bg1"/>
          </a:solidFill>
          <a:ln>
            <a:noFill/>
          </a:ln>
          <a:effectLst>
            <a:outerShdw blurRad="261522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>
              <a:solidFill>
                <a:schemeClr val="tx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151356" y="3680843"/>
            <a:ext cx="2219735" cy="51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디지털 키 2</a:t>
            </a:r>
          </a:p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호환성 평가 기술 용역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429" y="366161"/>
            <a:ext cx="2832261" cy="7273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en-US" altLang="ko-KR" sz="32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4818" y="572872"/>
            <a:ext cx="2712172" cy="11873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2023. 05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~ 2024. 03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슈어소프트테크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주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모빌리티솔루션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1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팀 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전임연구원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현대차 남양연구소 파견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&amp;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상주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835" y="3107609"/>
            <a:ext cx="423514" cy="418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01</a:t>
            </a:r>
            <a:endParaRPr lang="ko-KR" altLang="en-US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30" name="직선 연결선[R] 29"/>
          <p:cNvCxnSpPr/>
          <p:nvPr/>
        </p:nvCxnSpPr>
        <p:spPr>
          <a:xfrm>
            <a:off x="3766429" y="558798"/>
            <a:ext cx="7932144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66740" y="5119016"/>
            <a:ext cx="1997499" cy="727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고객사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현대자동차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기간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23.05 ~ 24.02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목적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디지털 키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2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호환성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역할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실차 검증</a:t>
            </a:r>
          </a:p>
        </p:txBody>
      </p:sp>
      <p:sp>
        <p:nvSpPr>
          <p:cNvPr id="36" name="사각형: 둥근 모서리 8"/>
          <p:cNvSpPr/>
          <p:nvPr/>
        </p:nvSpPr>
        <p:spPr>
          <a:xfrm>
            <a:off x="3687631" y="3566913"/>
            <a:ext cx="2149947" cy="2493923"/>
          </a:xfrm>
          <a:prstGeom prst="roundRect">
            <a:avLst>
              <a:gd name="adj" fmla="val 7439"/>
            </a:avLst>
          </a:prstGeom>
          <a:solidFill>
            <a:schemeClr val="bg1"/>
          </a:solidFill>
          <a:ln>
            <a:noFill/>
          </a:ln>
          <a:effectLst>
            <a:outerShdw blurRad="261522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>
              <a:solidFill>
                <a:schemeClr val="tx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793598" y="3699338"/>
            <a:ext cx="1972245" cy="51722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디지털 키 2 </a:t>
            </a:r>
          </a:p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폰 연동 기능 검증 용역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23444" y="3107609"/>
            <a:ext cx="458780" cy="418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02</a:t>
            </a:r>
            <a:endParaRPr lang="ko-KR" altLang="en-US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사각형: 둥근 모서리 8"/>
          <p:cNvSpPr/>
          <p:nvPr/>
        </p:nvSpPr>
        <p:spPr>
          <a:xfrm>
            <a:off x="6303241" y="3566913"/>
            <a:ext cx="2149947" cy="2493923"/>
          </a:xfrm>
          <a:prstGeom prst="roundRect">
            <a:avLst>
              <a:gd name="adj" fmla="val 7439"/>
            </a:avLst>
          </a:prstGeom>
          <a:solidFill>
            <a:schemeClr val="bg1"/>
          </a:solidFill>
          <a:ln>
            <a:noFill/>
          </a:ln>
          <a:effectLst>
            <a:outerShdw blurRad="261522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>
              <a:solidFill>
                <a:schemeClr val="tx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19565" y="3680843"/>
            <a:ext cx="1825275" cy="7273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SMK HILS</a:t>
            </a:r>
          </a:p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환경 구축 및 </a:t>
            </a:r>
          </a:p>
          <a:p>
            <a:pPr lvl="0">
              <a:defRPr/>
            </a:pP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테스트케이스 표준화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9054" y="3107609"/>
            <a:ext cx="465192" cy="418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03</a:t>
            </a:r>
            <a:endParaRPr lang="ko-KR" altLang="en-US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19431" y="584202"/>
            <a:ext cx="5279141" cy="359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3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HKMC </a:t>
            </a:r>
            <a:r>
              <a:rPr lang="ko-KR" altLang="en-US" sz="13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디지털 키 </a:t>
            </a:r>
            <a:r>
              <a:rPr lang="en-US" altLang="ko-KR" sz="13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lang="ko-KR" altLang="en-US" sz="13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300" dirty="0" err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실차</a:t>
            </a:r>
            <a:r>
              <a:rPr lang="ko-KR" altLang="en-US" sz="13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시스템 검증</a:t>
            </a:r>
          </a:p>
        </p:txBody>
      </p:sp>
      <p:sp>
        <p:nvSpPr>
          <p:cNvPr id="89" name="TextBox 34"/>
          <p:cNvSpPr txBox="1"/>
          <p:nvPr/>
        </p:nvSpPr>
        <p:spPr>
          <a:xfrm>
            <a:off x="3751250" y="5178941"/>
            <a:ext cx="1997499" cy="72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고객사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현대자동차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기간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23.05 ~ 24.02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목적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디지털 키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2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애플 인증</a:t>
            </a:r>
          </a:p>
          <a:p>
            <a:pPr marL="149940" indent="-14994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역할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실차 검증</a:t>
            </a:r>
            <a:endParaRPr lang="en-US" altLang="ko-KR" sz="1050" b="1">
              <a:latin typeface="Pretendard"/>
              <a:ea typeface="Pretendard"/>
              <a:cs typeface="Pretendard"/>
            </a:endParaRPr>
          </a:p>
        </p:txBody>
      </p:sp>
      <p:sp>
        <p:nvSpPr>
          <p:cNvPr id="90" name="TextBox 34"/>
          <p:cNvSpPr txBox="1"/>
          <p:nvPr/>
        </p:nvSpPr>
        <p:spPr>
          <a:xfrm>
            <a:off x="6409743" y="5211121"/>
            <a:ext cx="1997499" cy="721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고객사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모베이스전자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기간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24.02 ~ 24.03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목적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HILS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환경 구축</a:t>
            </a:r>
          </a:p>
          <a:p>
            <a:pPr marL="149940" indent="-149940" algn="l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역할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테스트케이스 표준화</a:t>
            </a:r>
          </a:p>
        </p:txBody>
      </p:sp>
      <p:pic>
        <p:nvPicPr>
          <p:cNvPr id="92" name="그림 9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4451" y="111711"/>
            <a:ext cx="1727539" cy="365294"/>
          </a:xfrm>
          <a:prstGeom prst="rect">
            <a:avLst/>
          </a:prstGeom>
        </p:spPr>
      </p:pic>
      <p:pic>
        <p:nvPicPr>
          <p:cNvPr id="93" name="그림 9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240719" y="4202994"/>
            <a:ext cx="1824388" cy="936978"/>
          </a:xfrm>
          <a:prstGeom prst="rect">
            <a:avLst/>
          </a:prstGeom>
        </p:spPr>
      </p:pic>
      <p:pic>
        <p:nvPicPr>
          <p:cNvPr id="94" name="그림 9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767365" y="3648604"/>
            <a:ext cx="337911" cy="283273"/>
          </a:xfrm>
          <a:prstGeom prst="rect">
            <a:avLst/>
          </a:prstGeom>
        </p:spPr>
      </p:pic>
      <p:pic>
        <p:nvPicPr>
          <p:cNvPr id="95" name="그림 9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406848" y="3642254"/>
            <a:ext cx="337911" cy="283273"/>
          </a:xfrm>
          <a:prstGeom prst="rect">
            <a:avLst/>
          </a:prstGeom>
        </p:spPr>
      </p:pic>
      <p:pic>
        <p:nvPicPr>
          <p:cNvPr id="96" name="그림 9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8072965" y="3647722"/>
            <a:ext cx="311693" cy="326540"/>
          </a:xfrm>
          <a:prstGeom prst="rect">
            <a:avLst/>
          </a:prstGeom>
        </p:spPr>
      </p:pic>
      <p:pic>
        <p:nvPicPr>
          <p:cNvPr id="97" name="그림 9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3813704" y="4242328"/>
            <a:ext cx="1883480" cy="946471"/>
          </a:xfrm>
          <a:prstGeom prst="rect">
            <a:avLst/>
          </a:prstGeom>
        </p:spPr>
      </p:pic>
      <p:pic>
        <p:nvPicPr>
          <p:cNvPr id="99" name="그림 98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6467828" y="4359628"/>
            <a:ext cx="1849261" cy="8691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직사각형 30"/>
          <p:cNvSpPr/>
          <p:nvPr/>
        </p:nvSpPr>
        <p:spPr>
          <a:xfrm>
            <a:off x="-6352" y="4813875"/>
            <a:ext cx="12198352" cy="2044125"/>
          </a:xfrm>
          <a:prstGeom prst="rect">
            <a:avLst/>
          </a:prstGeom>
          <a:solidFill>
            <a:srgbClr val="F1F5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R" altLang="en-US">
              <a:latin typeface="Pretendard"/>
              <a:ea typeface="Pretendard"/>
              <a:cs typeface="Pretendard"/>
            </a:endParaRPr>
          </a:p>
        </p:txBody>
      </p:sp>
      <p:sp>
        <p:nvSpPr>
          <p:cNvPr id="9" name="사각형: 둥근 모서리 8"/>
          <p:cNvSpPr/>
          <p:nvPr/>
        </p:nvSpPr>
        <p:spPr>
          <a:xfrm>
            <a:off x="1072022" y="3566913"/>
            <a:ext cx="2149947" cy="2493923"/>
          </a:xfrm>
          <a:prstGeom prst="roundRect">
            <a:avLst>
              <a:gd name="adj" fmla="val 7439"/>
            </a:avLst>
          </a:prstGeom>
          <a:solidFill>
            <a:schemeClr val="bg1"/>
          </a:solidFill>
          <a:ln>
            <a:noFill/>
          </a:ln>
          <a:effectLst>
            <a:outerShdw blurRad="261522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>
              <a:solidFill>
                <a:schemeClr val="tx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253080" y="3671596"/>
            <a:ext cx="1857785" cy="298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ccNC</a:t>
            </a: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표준형 </a:t>
            </a: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6</a:t>
            </a: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세대</a:t>
            </a: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429" y="366161"/>
            <a:ext cx="2832261" cy="7273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en-US" altLang="ko-KR" sz="32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EXPERIENCE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84818" y="572872"/>
            <a:ext cx="1797772" cy="91112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2019. 01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~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2023.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05</a:t>
            </a:r>
          </a:p>
          <a:p>
            <a:pPr>
              <a:lnSpc>
                <a:spcPct val="130000"/>
              </a:lnSpc>
              <a:defRPr/>
            </a:pP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주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큐아이엠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자동화 평가팀</a:t>
            </a:r>
            <a:r>
              <a:rPr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주임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835" y="3107609"/>
            <a:ext cx="423514" cy="418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01</a:t>
            </a:r>
            <a:endParaRPr lang="ko-KR" altLang="en-US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cxnSp>
        <p:nvCxnSpPr>
          <p:cNvPr id="30" name="직선 연결선[R] 29"/>
          <p:cNvCxnSpPr/>
          <p:nvPr/>
        </p:nvCxnSpPr>
        <p:spPr>
          <a:xfrm>
            <a:off x="3766429" y="558798"/>
            <a:ext cx="7932144" cy="0"/>
          </a:xfrm>
          <a:prstGeom prst="line">
            <a:avLst/>
          </a:prstGeom>
          <a:ln w="158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1109590" y="5147591"/>
            <a:ext cx="2200946" cy="7274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고객사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현대모비스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기간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22.09 ~ 23.05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목적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품질 개선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SOP</a:t>
            </a:r>
          </a:p>
          <a:p>
            <a:pPr marL="149940" indent="-14994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역할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자동화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DV/DR/SOP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평가</a:t>
            </a:r>
          </a:p>
        </p:txBody>
      </p:sp>
      <p:sp>
        <p:nvSpPr>
          <p:cNvPr id="36" name="사각형: 둥근 모서리 8"/>
          <p:cNvSpPr/>
          <p:nvPr/>
        </p:nvSpPr>
        <p:spPr>
          <a:xfrm>
            <a:off x="3687631" y="3566913"/>
            <a:ext cx="2149947" cy="2493923"/>
          </a:xfrm>
          <a:prstGeom prst="roundRect">
            <a:avLst>
              <a:gd name="adj" fmla="val 7439"/>
            </a:avLst>
          </a:prstGeom>
          <a:solidFill>
            <a:schemeClr val="bg1"/>
          </a:solidFill>
          <a:ln>
            <a:noFill/>
          </a:ln>
          <a:effectLst>
            <a:outerShdw blurRad="261522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>
              <a:solidFill>
                <a:schemeClr val="tx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868689" y="3671596"/>
            <a:ext cx="1861551" cy="298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WIDE</a:t>
            </a: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표준형 </a:t>
            </a: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5</a:t>
            </a: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세대</a:t>
            </a: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23444" y="3107609"/>
            <a:ext cx="458780" cy="418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02</a:t>
            </a:r>
            <a:endParaRPr lang="ko-KR" altLang="en-US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0" name="사각형: 둥근 모서리 8"/>
          <p:cNvSpPr/>
          <p:nvPr/>
        </p:nvSpPr>
        <p:spPr>
          <a:xfrm>
            <a:off x="6303241" y="3566913"/>
            <a:ext cx="2149947" cy="2493923"/>
          </a:xfrm>
          <a:prstGeom prst="roundRect">
            <a:avLst>
              <a:gd name="adj" fmla="val 7439"/>
            </a:avLst>
          </a:prstGeom>
          <a:solidFill>
            <a:schemeClr val="bg1"/>
          </a:solidFill>
          <a:ln>
            <a:noFill/>
          </a:ln>
          <a:effectLst>
            <a:outerShdw blurRad="261522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100">
              <a:solidFill>
                <a:schemeClr val="tx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484299" y="3671596"/>
            <a:ext cx="1884366" cy="2984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GEN6 (</a:t>
            </a: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고급형 </a:t>
            </a: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6</a:t>
            </a:r>
            <a:r>
              <a:rPr lang="ko-KR" altLang="en-US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세대</a:t>
            </a:r>
            <a:r>
              <a:rPr lang="en-US" altLang="ko-KR" sz="14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9054" y="3107609"/>
            <a:ext cx="465192" cy="418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03</a:t>
            </a:r>
            <a:endParaRPr lang="ko-KR" altLang="en-US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19431" y="584202"/>
            <a:ext cx="5279141" cy="359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3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HKMC</a:t>
            </a:r>
            <a:r>
              <a:rPr lang="ko-KR" altLang="en-US" sz="13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3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AVN(</a:t>
            </a:r>
            <a:r>
              <a:rPr lang="en-US" altLang="ko-KR" sz="1300" dirty="0" err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ccNC</a:t>
            </a:r>
            <a:r>
              <a:rPr lang="en-US" altLang="ko-KR" sz="13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/WIDE/GENESIS)</a:t>
            </a:r>
            <a:r>
              <a:rPr lang="ko-KR" altLang="en-US" sz="1300" dirty="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자동화 평가</a:t>
            </a:r>
          </a:p>
        </p:txBody>
      </p:sp>
      <p:sp>
        <p:nvSpPr>
          <p:cNvPr id="89" name="TextBox 34"/>
          <p:cNvSpPr txBox="1"/>
          <p:nvPr/>
        </p:nvSpPr>
        <p:spPr>
          <a:xfrm>
            <a:off x="3694099" y="5178941"/>
            <a:ext cx="2210194" cy="724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고객사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현대모비스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기간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19.05 ~ 23.05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목적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품질 개선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SOP</a:t>
            </a:r>
          </a:p>
          <a:p>
            <a:pPr marL="149940" indent="-14994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역할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자동화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DV/DR/SOP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평가</a:t>
            </a:r>
          </a:p>
        </p:txBody>
      </p:sp>
      <p:sp>
        <p:nvSpPr>
          <p:cNvPr id="90" name="TextBox 34"/>
          <p:cNvSpPr txBox="1"/>
          <p:nvPr/>
        </p:nvSpPr>
        <p:spPr>
          <a:xfrm>
            <a:off x="6352593" y="5211121"/>
            <a:ext cx="1997499" cy="7210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고객사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현대모비스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기간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19.01 ~ 19.05</a:t>
            </a:r>
          </a:p>
          <a:p>
            <a:pPr marL="157080" indent="-15708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목적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선행 품질 개선</a:t>
            </a:r>
          </a:p>
          <a:p>
            <a:pPr marL="149940" indent="-149940">
              <a:buFont typeface="Wingdings"/>
              <a:buChar char="§"/>
              <a:defRPr/>
            </a:pPr>
            <a:r>
              <a:rPr lang="ko-KR" altLang="en-US" sz="1050" b="1">
                <a:latin typeface="Pretendard"/>
                <a:ea typeface="Pretendard"/>
                <a:cs typeface="Pretendard"/>
              </a:rPr>
              <a:t>역할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 : 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오류 추정</a:t>
            </a:r>
            <a:r>
              <a:rPr lang="en-US" altLang="ko-KR" sz="1050" b="1"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050" b="1">
                <a:latin typeface="Pretendard"/>
                <a:ea typeface="Pretendard"/>
                <a:cs typeface="Pretendard"/>
              </a:rPr>
              <a:t>수동 검증</a:t>
            </a:r>
          </a:p>
        </p:txBody>
      </p:sp>
      <p:pic>
        <p:nvPicPr>
          <p:cNvPr id="92" name="그림 91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07040" y="110970"/>
            <a:ext cx="1546656" cy="318763"/>
          </a:xfrm>
          <a:prstGeom prst="rect">
            <a:avLst/>
          </a:prstGeom>
        </p:spPr>
      </p:pic>
      <p:pic>
        <p:nvPicPr>
          <p:cNvPr id="93" name="그림 92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196092" y="4302476"/>
            <a:ext cx="1886187" cy="815639"/>
          </a:xfrm>
          <a:prstGeom prst="rect">
            <a:avLst/>
          </a:prstGeom>
        </p:spPr>
      </p:pic>
      <p:pic>
        <p:nvPicPr>
          <p:cNvPr id="94" name="그림 9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3753027" y="4337754"/>
            <a:ext cx="1999768" cy="784226"/>
          </a:xfrm>
          <a:prstGeom prst="rect">
            <a:avLst/>
          </a:prstGeom>
        </p:spPr>
      </p:pic>
      <p:pic>
        <p:nvPicPr>
          <p:cNvPr id="95" name="그림 94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6382633" y="4354159"/>
            <a:ext cx="1984377" cy="789002"/>
          </a:xfrm>
          <a:prstGeom prst="rect">
            <a:avLst/>
          </a:prstGeom>
        </p:spPr>
      </p:pic>
      <p:pic>
        <p:nvPicPr>
          <p:cNvPr id="99" name="그림 98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5147909" y="3959048"/>
            <a:ext cx="643166" cy="294088"/>
          </a:xfrm>
          <a:prstGeom prst="rect">
            <a:avLst/>
          </a:prstGeom>
        </p:spPr>
      </p:pic>
      <p:pic>
        <p:nvPicPr>
          <p:cNvPr id="100" name="그림 9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2444044" y="3961518"/>
            <a:ext cx="732601" cy="296251"/>
          </a:xfrm>
          <a:prstGeom prst="rect">
            <a:avLst/>
          </a:prstGeom>
        </p:spPr>
      </p:pic>
      <p:pic>
        <p:nvPicPr>
          <p:cNvPr id="101" name="그림 10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710312" y="3941233"/>
            <a:ext cx="713670" cy="28341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3313" y="978495"/>
            <a:ext cx="3929680" cy="33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A-SPICE Process</a:t>
            </a:r>
            <a:endParaRPr lang="en-US" altLang="ko-KR" sz="1600" b="1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3752" y="1243928"/>
            <a:ext cx="4179101" cy="2270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000" b="1">
                <a:latin typeface="Pretendard"/>
                <a:ea typeface="Pretendard"/>
                <a:cs typeface="Pretendard"/>
              </a:rPr>
              <a:t>SWE.6</a:t>
            </a:r>
            <a:r>
              <a:rPr lang="ko-KR" altLang="en-US" sz="100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b="1"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000" b="1">
                <a:latin typeface="Pretendard"/>
                <a:ea typeface="Pretendard"/>
                <a:cs typeface="Pretendard"/>
              </a:rPr>
              <a:t>소프트웨어 요구사항 테스트</a:t>
            </a:r>
            <a:r>
              <a:rPr lang="en-US" altLang="ko-KR" sz="1000" b="1">
                <a:latin typeface="Pretendard"/>
                <a:ea typeface="Pretendard"/>
                <a:cs typeface="Pretendard"/>
              </a:rPr>
              <a:t>)</a:t>
            </a:r>
            <a:endParaRPr lang="en-US" altLang="ko-KR" sz="1000" b="1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SW 테스트 계획서 작성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SW 요구사항 명세서 분석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SW 테스트케이스 설계 및 검증 수행 (기능/비기능/고장 진단/결함 주입)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HILS 자동화 검증 환경 구축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HILS 자동화 테스트 스크립트 개발 및 수행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NI Veristand 활용 가상 Motor Control Unit 검증 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(Real-time Simulation)</a:t>
            </a:r>
            <a:endParaRPr lang="en-US" altLang="ko-KR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TEST MANAGER 활용 자동화 검증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PLS UDE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/T32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디버거 활용 변수 값 모니터링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CANoe 활용 통신 인터페이스 검증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회귀 검증 수행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1451" y="5606055"/>
            <a:ext cx="460689" cy="2406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기간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88545" y="5603970"/>
            <a:ext cx="164609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2024.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06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~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총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년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개월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</a:t>
            </a:r>
            <a:endParaRPr lang="en-US" altLang="ko-KR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4226" y="5879917"/>
            <a:ext cx="460689" cy="2427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역할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88545" y="5903327"/>
            <a:ext cx="18937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전동컴프레셔 인버터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SW 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검증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653280" y="-1"/>
            <a:ext cx="7538720" cy="34254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ko-KR" altLang="en-US" sz="1200">
                <a:latin typeface="Pretendard"/>
                <a:ea typeface="Pretendard"/>
                <a:cs typeface="Pretendard"/>
              </a:rPr>
              <a:t>이미지를 삽입해주세요</a:t>
            </a:r>
            <a:endParaRPr kumimoji="1" lang="ko-KR" altLang="en-US" sz="1200">
              <a:latin typeface="Pretendard"/>
              <a:ea typeface="Pretendard"/>
              <a:cs typeface="Pretendard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670918" y="3429000"/>
            <a:ext cx="3707624" cy="3425432"/>
          </a:xfrm>
          <a:prstGeom prst="rect">
            <a:avLst/>
          </a:prstGeom>
          <a:solidFill>
            <a:srgbClr val="528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ko-KR" altLang="en-US" sz="1200">
                <a:latin typeface="Pretendard"/>
                <a:ea typeface="Pretendard"/>
                <a:cs typeface="Pretendard"/>
              </a:rPr>
              <a:t>이미지를 삽입해주세요</a:t>
            </a:r>
            <a:endParaRPr kumimoji="1" lang="ko-KR" altLang="en-US" sz="1200">
              <a:latin typeface="Pretendard"/>
              <a:ea typeface="Pretendard"/>
              <a:cs typeface="Pretendard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8422640" y="3429001"/>
            <a:ext cx="3769360" cy="3425432"/>
          </a:xfrm>
          <a:prstGeom prst="rect">
            <a:avLst/>
          </a:prstGeom>
          <a:solidFill>
            <a:srgbClr val="a3c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ko-KR" altLang="en-US" sz="1200">
                <a:latin typeface="Pretendard"/>
                <a:ea typeface="Pretendard"/>
                <a:cs typeface="Pretendard"/>
              </a:rPr>
              <a:t>이미지를 삽입해주세요</a:t>
            </a:r>
            <a:endParaRPr kumimoji="1" lang="ko-KR" altLang="en-US" sz="120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2426" y="366161"/>
            <a:ext cx="3451389" cy="7273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en-US" altLang="ko-KR" sz="32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PROJECT</a:t>
            </a:r>
            <a:r>
              <a:rPr xmlns:mc="http://schemas.openxmlformats.org/markup-compatibility/2006" xmlns:hp="http://schemas.haansoft.com/office/presentation/8.0" kumimoji="1" lang="ko-KR" altLang="en-US" sz="1600" mc:Ignorable="hp" hp:hslEmbossed="0">
                <a:solidFill>
                  <a:srgbClr val="000000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두원중공업</a:t>
            </a:r>
            <a:r>
              <a:rPr xmlns:mc="http://schemas.openxmlformats.org/markup-compatibility/2006" xmlns:hp="http://schemas.haansoft.com/office/presentation/8.0" kumimoji="1" lang="en-US" altLang="ko-KR" sz="1600" mc:Ignorable="hp" hp:hslEmbossed="0">
                <a:solidFill>
                  <a:srgbClr val="000000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(</a:t>
            </a:r>
            <a:r>
              <a:rPr xmlns:mc="http://schemas.openxmlformats.org/markup-compatibility/2006" xmlns:hp="http://schemas.haansoft.com/office/presentation/8.0" kumimoji="1" lang="ko-KR" altLang="en-US" sz="1600" mc:Ignorable="hp" hp:hslEmbossed="0">
                <a:solidFill>
                  <a:srgbClr val="000000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주</a:t>
            </a:r>
            <a:r>
              <a:rPr xmlns:mc="http://schemas.openxmlformats.org/markup-compatibility/2006" xmlns:hp="http://schemas.haansoft.com/office/presentation/8.0" kumimoji="1" lang="en-US" altLang="ko-KR" sz="1600" mc:Ignorable="hp" hp:hslEmbossed="0">
                <a:solidFill>
                  <a:srgbClr val="000000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)</a:t>
            </a:r>
            <a:endParaRPr kumimoji="1" lang="en-US" altLang="ko-KR" sz="160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73" name="그래픽 19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561878" y="6188937"/>
            <a:ext cx="216027" cy="216027"/>
          </a:xfrm>
          <a:prstGeom prst="rect">
            <a:avLst/>
          </a:prstGeom>
        </p:spPr>
      </p:pic>
      <p:sp>
        <p:nvSpPr>
          <p:cNvPr id="74" name="TextBox 48"/>
          <p:cNvSpPr txBox="1"/>
          <p:nvPr/>
        </p:nvSpPr>
        <p:spPr>
          <a:xfrm>
            <a:off x="1183532" y="6126494"/>
            <a:ext cx="3353856" cy="777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C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언어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/HILS/PLS-UDE/WinIDEA/CT/OTA/UDS/NI Veristand/TEST MANAGER/CANoe/CAPL/CANalyer</a:t>
            </a:r>
            <a:endParaRPr lang="en-US" altLang="ko-KR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ALM/Eclipse/Green Hills/Visual Studio/T32/Rhapsody</a:t>
            </a:r>
            <a:endParaRPr lang="en-US" altLang="ko-KR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5" name="TextBox 50"/>
          <p:cNvSpPr txBox="1"/>
          <p:nvPr/>
        </p:nvSpPr>
        <p:spPr>
          <a:xfrm>
            <a:off x="730587" y="6174938"/>
            <a:ext cx="813877" cy="243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스킬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76" name="그래픽 20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561211" y="5892135"/>
            <a:ext cx="216027" cy="216027"/>
          </a:xfrm>
          <a:prstGeom prst="rect">
            <a:avLst/>
          </a:prstGeom>
        </p:spPr>
      </p:pic>
      <p:pic>
        <p:nvPicPr>
          <p:cNvPr id="78" name="그래픽 29"/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579010" y="5621046"/>
            <a:ext cx="216027" cy="216027"/>
          </a:xfrm>
          <a:prstGeom prst="rect">
            <a:avLst/>
          </a:prstGeom>
        </p:spPr>
      </p:pic>
      <p:sp>
        <p:nvSpPr>
          <p:cNvPr id="80" name="TextBox 3"/>
          <p:cNvSpPr txBox="1"/>
          <p:nvPr/>
        </p:nvSpPr>
        <p:spPr>
          <a:xfrm>
            <a:off x="728768" y="4663980"/>
            <a:ext cx="467572" cy="239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성과</a:t>
            </a:r>
            <a:endParaRPr lang="ko-KR" altLang="en-US" sz="1000" b="1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1" name="TextBox 4"/>
          <p:cNvSpPr txBox="1"/>
          <p:nvPr/>
        </p:nvSpPr>
        <p:spPr>
          <a:xfrm>
            <a:off x="1163921" y="4613585"/>
            <a:ext cx="3116559" cy="990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HMC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주관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A-SPICE SWE.6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영역 </a:t>
            </a:r>
            <a:r>
              <a:rPr lang="en-US" altLang="ko-KR" sz="1000" u="sng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CL1</a:t>
            </a:r>
            <a:r>
              <a:rPr lang="ko-KR" altLang="en-US" sz="1000" u="sng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달성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(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기여도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100%)</a:t>
            </a:r>
            <a:endParaRPr lang="en-US" altLang="ko-KR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SW 요구사항 테스트케이스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615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건 설계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SW 통합 테스트케이스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2,790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건 설계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HILS 자동화 테스트 스크립트 1,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570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건 설계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3" name="TextBox 6"/>
          <p:cNvSpPr txBox="1"/>
          <p:nvPr/>
        </p:nvSpPr>
        <p:spPr>
          <a:xfrm>
            <a:off x="448814" y="3505200"/>
            <a:ext cx="4008956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000" b="1">
                <a:latin typeface="Pretendard"/>
                <a:ea typeface="Pretendard"/>
                <a:cs typeface="Pretendard"/>
              </a:rPr>
              <a:t>SWE.4/5</a:t>
            </a:r>
            <a:r>
              <a:rPr lang="ko-KR" altLang="en-US" sz="100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b="1"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000" b="1">
                <a:latin typeface="Pretendard"/>
                <a:ea typeface="Pretendard"/>
                <a:cs typeface="Pretendard"/>
              </a:rPr>
              <a:t>소프트웨어 단위</a:t>
            </a:r>
            <a:r>
              <a:rPr lang="en-US" altLang="ko-KR" sz="1000" b="1"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000" b="1">
                <a:latin typeface="Pretendard"/>
                <a:ea typeface="Pretendard"/>
                <a:cs typeface="Pretendard"/>
              </a:rPr>
              <a:t>통합 테스트</a:t>
            </a:r>
            <a:r>
              <a:rPr lang="en-US" altLang="ko-KR" sz="1000" b="1">
                <a:latin typeface="Pretendard"/>
                <a:ea typeface="Pretendard"/>
                <a:cs typeface="Pretendard"/>
              </a:rPr>
              <a:t>)</a:t>
            </a:r>
            <a:endParaRPr lang="en-US" altLang="ko-KR" sz="1000" b="1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SW 아키텍처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상세 설계 명세서 분석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SW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단위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통합 테스트케이스 설계 및 검증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atin typeface="Pretendard"/>
                <a:ea typeface="Pretendard"/>
                <a:cs typeface="Pretendard"/>
              </a:rPr>
              <a:t>- CT 2025(Suresoft) 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활용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SW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단위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통합 테스트 수행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자원 사용량 검증 수행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(CPU Load/Memory/Stack Usage)</a:t>
            </a:r>
            <a:endParaRPr lang="en-US" altLang="ko-KR" sz="1000">
              <a:latin typeface="Pretendard"/>
              <a:ea typeface="Pretendard"/>
              <a:cs typeface="Pretendard"/>
            </a:endParaRPr>
          </a:p>
        </p:txBody>
      </p:sp>
      <p:pic>
        <p:nvPicPr>
          <p:cNvPr id="94" name="그래픽 113"/>
          <p:cNvPicPr/>
          <p:nvPr/>
        </p:nvPicPr>
        <p:blipFill rotWithShape="1">
          <a:blip r:embed="rId5"/>
          <a:stretch>
            <a:fillRect/>
          </a:stretch>
        </p:blipFill>
        <p:spPr>
          <a:xfrm>
            <a:off x="571230" y="4675302"/>
            <a:ext cx="216027" cy="216027"/>
          </a:xfrm>
          <a:prstGeom prst="rect">
            <a:avLst/>
          </a:prstGeom>
        </p:spPr>
      </p:pic>
      <p:pic>
        <p:nvPicPr>
          <p:cNvPr id="98" name="그림 97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657197" y="0"/>
            <a:ext cx="3796985" cy="1956152"/>
          </a:xfrm>
          <a:prstGeom prst="rect">
            <a:avLst/>
          </a:prstGeom>
        </p:spPr>
      </p:pic>
      <p:pic>
        <p:nvPicPr>
          <p:cNvPr id="100" name="그림 99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662663" y="1922638"/>
            <a:ext cx="3789893" cy="2494138"/>
          </a:xfrm>
          <a:prstGeom prst="rect">
            <a:avLst/>
          </a:prstGeom>
        </p:spPr>
      </p:pic>
      <p:pic>
        <p:nvPicPr>
          <p:cNvPr id="101" name="그림 100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441444" y="0"/>
            <a:ext cx="3750555" cy="1946983"/>
          </a:xfrm>
          <a:prstGeom prst="rect">
            <a:avLst/>
          </a:prstGeom>
        </p:spPr>
      </p:pic>
      <p:pic>
        <p:nvPicPr>
          <p:cNvPr id="102" name="그림 101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445502" y="1930753"/>
            <a:ext cx="3746499" cy="2494844"/>
          </a:xfrm>
          <a:prstGeom prst="rect">
            <a:avLst/>
          </a:prstGeom>
        </p:spPr>
      </p:pic>
      <p:pic>
        <p:nvPicPr>
          <p:cNvPr id="105" name="그림 104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659840" y="4407958"/>
            <a:ext cx="3758673" cy="2450041"/>
          </a:xfrm>
          <a:prstGeom prst="rect">
            <a:avLst/>
          </a:prstGeom>
        </p:spPr>
      </p:pic>
      <p:pic>
        <p:nvPicPr>
          <p:cNvPr id="106" name="그림 105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26448" y="4409016"/>
            <a:ext cx="3765552" cy="24489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398972" y="958739"/>
            <a:ext cx="3929680" cy="336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6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OTA/UDS </a:t>
            </a:r>
            <a:r>
              <a:rPr lang="ko-KR" altLang="en-US" sz="16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진단 평가</a:t>
            </a:r>
            <a:endParaRPr lang="ko-KR" altLang="en-US" sz="1600" b="1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3752" y="1243928"/>
            <a:ext cx="4179101" cy="22688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000" b="1">
                <a:latin typeface="Pretendard"/>
                <a:ea typeface="Pretendard"/>
                <a:cs typeface="Pretendard"/>
              </a:rPr>
              <a:t>OTA</a:t>
            </a:r>
            <a:r>
              <a:rPr lang="ko-KR" altLang="en-US" sz="100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b="1">
                <a:latin typeface="Pretendard"/>
                <a:ea typeface="Pretendard"/>
                <a:cs typeface="Pretendard"/>
              </a:rPr>
              <a:t>S/W</a:t>
            </a:r>
            <a:r>
              <a:rPr lang="ko-KR" altLang="en-US" sz="1000" b="1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b="1">
                <a:latin typeface="Pretendard"/>
                <a:ea typeface="Pretendard"/>
                <a:cs typeface="Pretendard"/>
              </a:rPr>
              <a:t>Update</a:t>
            </a:r>
            <a:r>
              <a:rPr lang="ko-KR" altLang="en-US" sz="1000" b="1">
                <a:latin typeface="Pretendard"/>
                <a:ea typeface="Pretendard"/>
                <a:cs typeface="Pretendard"/>
              </a:rPr>
              <a:t> 평가</a:t>
            </a:r>
            <a:endParaRPr lang="ko-KR" altLang="en-US" sz="1000" b="1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SW Unit/Vehicle Part Number/Version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확인 테스트 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OEUK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권한 획득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(Request Seed)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테스트 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Security Access ECU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잠금 해제 테스트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atin typeface="Pretendard"/>
                <a:ea typeface="Pretendard"/>
                <a:cs typeface="Pretendard"/>
              </a:rPr>
              <a:t>-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Erase Memory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확인 테스트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atin typeface="Pretendard"/>
                <a:ea typeface="Pretendard"/>
                <a:cs typeface="Pretendard"/>
              </a:rPr>
              <a:t>- OTA Ready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확인 테스트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atin typeface="Pretendard"/>
                <a:ea typeface="Pretendard"/>
                <a:cs typeface="Pretendard"/>
              </a:rPr>
              <a:t>-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OTA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Normal/Rollback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업데이트 시퀀스 테스트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atin typeface="Pretendard"/>
                <a:ea typeface="Pretendard"/>
                <a:cs typeface="Pretendard"/>
              </a:rPr>
              <a:t>-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다운그레이드 방지 테스트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atin typeface="Pretendard"/>
                <a:ea typeface="Pretendard"/>
                <a:cs typeface="Pretendard"/>
              </a:rPr>
              <a:t>-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A/B 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파티션 분리 테스트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atin typeface="Pretendard"/>
                <a:ea typeface="Pretendard"/>
                <a:cs typeface="Pretendard"/>
              </a:rPr>
              <a:t>-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OTA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소요 시간 테스트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atin typeface="Pretendard"/>
                <a:ea typeface="Pretendard"/>
                <a:cs typeface="Pretendard"/>
              </a:rPr>
              <a:t>-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펌웨어 구조 전자서명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/Application/Bootloder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영역 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Binary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확인 테스트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1451" y="5606055"/>
            <a:ext cx="460689" cy="2406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기간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188545" y="5603970"/>
            <a:ext cx="167467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2025.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09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~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총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년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개월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64226" y="5879917"/>
            <a:ext cx="460689" cy="2427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역할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1188545" y="5903327"/>
            <a:ext cx="25319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전동컴프레셔 인버터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OTA/UDS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진단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검증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653280" y="-1"/>
            <a:ext cx="7538720" cy="34254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ko-KR" altLang="en-US" sz="1200">
                <a:latin typeface="Pretendard"/>
                <a:ea typeface="Pretendard"/>
                <a:cs typeface="Pretendard"/>
              </a:rPr>
              <a:t>이미지를 삽입해주세요</a:t>
            </a:r>
            <a:endParaRPr kumimoji="1" lang="ko-KR" altLang="en-US" sz="1200">
              <a:latin typeface="Pretendard"/>
              <a:ea typeface="Pretendard"/>
              <a:cs typeface="Pretendard"/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653280" y="3429000"/>
            <a:ext cx="3769360" cy="3425432"/>
          </a:xfrm>
          <a:prstGeom prst="rect">
            <a:avLst/>
          </a:prstGeom>
          <a:solidFill>
            <a:srgbClr val="528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ko-KR" altLang="en-US" sz="1200">
                <a:latin typeface="Pretendard"/>
                <a:ea typeface="Pretendard"/>
                <a:cs typeface="Pretendard"/>
              </a:rPr>
              <a:t>이미지를 삽입해주세요</a:t>
            </a:r>
            <a:endParaRPr kumimoji="1" lang="ko-KR" altLang="en-US" sz="1200">
              <a:latin typeface="Pretendard"/>
              <a:ea typeface="Pretendard"/>
              <a:cs typeface="Pretendard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8422640" y="3429001"/>
            <a:ext cx="3769360" cy="3425432"/>
          </a:xfrm>
          <a:prstGeom prst="rect">
            <a:avLst/>
          </a:prstGeom>
          <a:solidFill>
            <a:srgbClr val="a3c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ko-KR" altLang="en-US" sz="1200">
                <a:latin typeface="Pretendard"/>
                <a:ea typeface="Pretendard"/>
                <a:cs typeface="Pretendard"/>
              </a:rPr>
              <a:t>이미지를 삽입해주세요</a:t>
            </a:r>
            <a:endParaRPr kumimoji="1" lang="ko-KR" altLang="en-US" sz="1200">
              <a:latin typeface="Pretendard"/>
              <a:ea typeface="Pretendard"/>
              <a:cs typeface="Pretendard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2426" y="366161"/>
            <a:ext cx="3451389" cy="7273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en-US" altLang="ko-KR" sz="32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PROJECT</a:t>
            </a:r>
            <a:r>
              <a:rPr xmlns:mc="http://schemas.openxmlformats.org/markup-compatibility/2006" xmlns:hp="http://schemas.haansoft.com/office/presentation/8.0" kumimoji="1" lang="ko-KR" altLang="en-US" sz="1600" mc:Ignorable="hp" hp:hslEmbossed="0">
                <a:solidFill>
                  <a:srgbClr val="000000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두원중공업</a:t>
            </a:r>
            <a:r>
              <a:rPr xmlns:mc="http://schemas.openxmlformats.org/markup-compatibility/2006" xmlns:hp="http://schemas.haansoft.com/office/presentation/8.0" kumimoji="1" lang="en-US" altLang="ko-KR" sz="1600" mc:Ignorable="hp" hp:hslEmbossed="0">
                <a:solidFill>
                  <a:srgbClr val="000000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(</a:t>
            </a:r>
            <a:r>
              <a:rPr xmlns:mc="http://schemas.openxmlformats.org/markup-compatibility/2006" xmlns:hp="http://schemas.haansoft.com/office/presentation/8.0" kumimoji="1" lang="ko-KR" altLang="en-US" sz="1600" mc:Ignorable="hp" hp:hslEmbossed="0">
                <a:solidFill>
                  <a:srgbClr val="000000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주</a:t>
            </a:r>
            <a:r>
              <a:rPr xmlns:mc="http://schemas.openxmlformats.org/markup-compatibility/2006" xmlns:hp="http://schemas.haansoft.com/office/presentation/8.0" kumimoji="1" lang="en-US" altLang="ko-KR" sz="1600" mc:Ignorable="hp" hp:hslEmbossed="0">
                <a:solidFill>
                  <a:srgbClr val="000000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)</a:t>
            </a:r>
            <a:endParaRPr kumimoji="1" lang="en-US" altLang="ko-KR" sz="160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73" name="그래픽 19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561878" y="6188937"/>
            <a:ext cx="216027" cy="216027"/>
          </a:xfrm>
          <a:prstGeom prst="rect">
            <a:avLst/>
          </a:prstGeom>
        </p:spPr>
      </p:pic>
      <p:sp>
        <p:nvSpPr>
          <p:cNvPr id="74" name="TextBox 48"/>
          <p:cNvSpPr txBox="1"/>
          <p:nvPr/>
        </p:nvSpPr>
        <p:spPr>
          <a:xfrm>
            <a:off x="1183532" y="6126494"/>
            <a:ext cx="3353856" cy="3200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CANoe/H-OTA Studio/CAPL/Diagnostic Console</a:t>
            </a:r>
            <a:endParaRPr lang="en-US" altLang="ko-KR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75" name="TextBox 50"/>
          <p:cNvSpPr txBox="1"/>
          <p:nvPr/>
        </p:nvSpPr>
        <p:spPr>
          <a:xfrm>
            <a:off x="730587" y="6174938"/>
            <a:ext cx="813877" cy="243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스킬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76" name="그래픽 20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561211" y="5892135"/>
            <a:ext cx="216027" cy="216027"/>
          </a:xfrm>
          <a:prstGeom prst="rect">
            <a:avLst/>
          </a:prstGeom>
        </p:spPr>
      </p:pic>
      <p:pic>
        <p:nvPicPr>
          <p:cNvPr id="78" name="그래픽 29"/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579010" y="5621046"/>
            <a:ext cx="216027" cy="216027"/>
          </a:xfrm>
          <a:prstGeom prst="rect">
            <a:avLst/>
          </a:prstGeom>
        </p:spPr>
      </p:pic>
      <p:sp>
        <p:nvSpPr>
          <p:cNvPr id="80" name="TextBox 3"/>
          <p:cNvSpPr txBox="1"/>
          <p:nvPr/>
        </p:nvSpPr>
        <p:spPr>
          <a:xfrm>
            <a:off x="728768" y="4663980"/>
            <a:ext cx="467572" cy="239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성과</a:t>
            </a:r>
            <a:endParaRPr lang="ko-KR" altLang="en-US" sz="1000" b="1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81" name="TextBox 4"/>
          <p:cNvSpPr txBox="1"/>
          <p:nvPr/>
        </p:nvSpPr>
        <p:spPr>
          <a:xfrm>
            <a:off x="1163917" y="4613585"/>
            <a:ext cx="3242348" cy="10042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HILS + OTA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환경 구축 및 평가 메뉴얼 작성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OTA 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평가사양서 기반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, Worst 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테스트케이스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325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건 설계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UDS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진단 평가 사양서 기반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,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테스트케이스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250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건 설계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  <a:p>
            <a:pPr>
              <a:lnSpc>
                <a:spcPct val="150000"/>
              </a:lnSpc>
              <a:defRPr/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CAPL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코드 작성 및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UDS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진단 평가 자동화 환경 구축</a:t>
            </a:r>
            <a:endParaRPr lang="ko-KR" altLang="en-US" sz="1000">
              <a:solidFill>
                <a:schemeClr val="bg1">
                  <a:lumMod val="50000"/>
                </a:schemeClr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93" name="TextBox 6"/>
          <p:cNvSpPr txBox="1"/>
          <p:nvPr/>
        </p:nvSpPr>
        <p:spPr>
          <a:xfrm>
            <a:off x="448814" y="3505200"/>
            <a:ext cx="4008956" cy="1074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altLang="ko-KR" sz="1000" b="1">
                <a:latin typeface="Pretendard"/>
                <a:ea typeface="Pretendard"/>
                <a:cs typeface="Pretendard"/>
              </a:rPr>
              <a:t>UDS</a:t>
            </a:r>
            <a:r>
              <a:rPr lang="ko-KR" altLang="en-US" sz="1000" b="1">
                <a:latin typeface="Pretendard"/>
                <a:ea typeface="Pretendard"/>
                <a:cs typeface="Pretendard"/>
              </a:rPr>
              <a:t> 진단 통신 평가</a:t>
            </a:r>
            <a:endParaRPr lang="ko-KR" altLang="en-US" sz="1000" b="1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Secure Flash 1.0, ASK/NRC 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테스트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atin typeface="Pretendard"/>
                <a:ea typeface="Pretendard"/>
                <a:cs typeface="Pretendard"/>
              </a:rPr>
              <a:t>-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Seed Request/Randomness/Wrong key/ECU UnLock/Lock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테스트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atin typeface="Pretendard"/>
                <a:ea typeface="Pretendard"/>
                <a:cs typeface="Pretendard"/>
              </a:rPr>
              <a:t>-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비정상 펌웨어 리프로그램 평가</a:t>
            </a:r>
            <a:endParaRPr lang="ko-KR" altLang="en-US" sz="1000">
              <a:latin typeface="Pretendard"/>
              <a:ea typeface="Pretendard"/>
              <a:cs typeface="Pretendard"/>
            </a:endParaRPr>
          </a:p>
          <a:p>
            <a:pPr>
              <a:lnSpc>
                <a:spcPct val="130000"/>
              </a:lnSpc>
              <a:defRPr/>
            </a:pPr>
            <a:r>
              <a:rPr lang="en-US" altLang="ko-KR" sz="1000">
                <a:latin typeface="Pretendard"/>
                <a:ea typeface="Pretendard"/>
                <a:cs typeface="Pretendard"/>
              </a:rPr>
              <a:t>-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 펌웨어 서명 영역 위변조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규격 확인 평가</a:t>
            </a:r>
            <a:endParaRPr lang="en-US" altLang="ko-KR" sz="1000">
              <a:latin typeface="Pretendard"/>
              <a:ea typeface="Pretendard"/>
              <a:cs typeface="Pretendard"/>
            </a:endParaRPr>
          </a:p>
        </p:txBody>
      </p:sp>
      <p:pic>
        <p:nvPicPr>
          <p:cNvPr id="94" name="그래픽 113"/>
          <p:cNvPicPr/>
          <p:nvPr/>
        </p:nvPicPr>
        <p:blipFill rotWithShape="1">
          <a:blip r:embed="rId5"/>
          <a:stretch>
            <a:fillRect/>
          </a:stretch>
        </p:blipFill>
        <p:spPr>
          <a:xfrm>
            <a:off x="571230" y="4675302"/>
            <a:ext cx="216027" cy="216027"/>
          </a:xfrm>
          <a:prstGeom prst="rect">
            <a:avLst/>
          </a:prstGeom>
        </p:spPr>
      </p:pic>
      <p:pic>
        <p:nvPicPr>
          <p:cNvPr id="105" name="그림 104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655786" y="0"/>
            <a:ext cx="7536214" cy="3429000"/>
          </a:xfrm>
          <a:prstGeom prst="rect">
            <a:avLst/>
          </a:prstGeom>
        </p:spPr>
      </p:pic>
      <p:pic>
        <p:nvPicPr>
          <p:cNvPr id="106" name="그림 105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4629327" y="3429000"/>
            <a:ext cx="3788834" cy="3429000"/>
          </a:xfrm>
          <a:prstGeom prst="rect">
            <a:avLst/>
          </a:prstGeom>
        </p:spPr>
      </p:pic>
      <p:pic>
        <p:nvPicPr>
          <p:cNvPr id="107" name="그림 106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8395230" y="3429000"/>
            <a:ext cx="3796770" cy="3429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mc:Ignorable="p14" p14:dur="500"/>
    </mc:Choice>
    <mc:Fallback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23308" y="1052226"/>
            <a:ext cx="2986359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300" b="1">
                <a:solidFill>
                  <a:srgbClr val="000000"/>
                </a:solidFill>
                <a:effectLst/>
                <a:latin typeface="Pretendard"/>
                <a:ea typeface="Pretendard"/>
                <a:cs typeface="Pretendard"/>
              </a:rPr>
              <a:t>현대</a:t>
            </a:r>
            <a:r>
              <a:rPr lang="en-US" altLang="ko-KR" sz="1300" b="1">
                <a:solidFill>
                  <a:srgbClr val="000000"/>
                </a:solidFill>
                <a:effectLst/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300" b="1">
                <a:solidFill>
                  <a:srgbClr val="000000"/>
                </a:solidFill>
                <a:effectLst/>
                <a:latin typeface="Pretendard"/>
                <a:ea typeface="Pretendard"/>
                <a:cs typeface="Pretendard"/>
              </a:rPr>
              <a:t>기아자동차 디지털 키 </a:t>
            </a:r>
            <a:r>
              <a:rPr lang="en-US" altLang="ko-KR" sz="1300" b="1">
                <a:solidFill>
                  <a:srgbClr val="000000"/>
                </a:solidFill>
                <a:effectLst/>
                <a:latin typeface="Pretendard"/>
                <a:ea typeface="Pretendard"/>
                <a:cs typeface="Pretendard"/>
              </a:rPr>
              <a:t>2</a:t>
            </a:r>
            <a:r>
              <a:rPr lang="ko-KR" altLang="en-US" sz="1300" b="1">
                <a:solidFill>
                  <a:srgbClr val="000000"/>
                </a:solidFill>
                <a:effectLst/>
                <a:latin typeface="Pretendard"/>
                <a:ea typeface="Pretendard"/>
                <a:cs typeface="Pretendard"/>
              </a:rPr>
              <a:t> 실차 검증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2145" y="1321776"/>
            <a:ext cx="4123608" cy="10791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ko-KR" altLang="en-US" sz="1000" b="1">
                <a:latin typeface="Pretendard"/>
                <a:ea typeface="Pretendard"/>
                <a:cs typeface="Pretendard"/>
              </a:rPr>
              <a:t>디지털 키 2 호환성을 위한 평가 기술 용역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차량 전장제어기 표준 사양서 분석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실차 리그레이션 평가 대응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UWB 모듈 측위 실외 합동 평가 수행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디지털 키 2 선행 개발 기능 사전 검증 수행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451" y="5606055"/>
            <a:ext cx="460689" cy="2406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545" y="5603970"/>
            <a:ext cx="20080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2023.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05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~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2024.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03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총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10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개월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226" y="5879917"/>
            <a:ext cx="460689" cy="2427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88545" y="5903327"/>
            <a:ext cx="276052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디지털 키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실차 검증 및 테스트케이스 표준화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4653280" y="-1"/>
            <a:ext cx="7538720" cy="34254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ko-KR" altLang="en-US" sz="1200">
                <a:latin typeface="Pretendard"/>
                <a:ea typeface="Pretendard"/>
                <a:cs typeface="Pretendard"/>
              </a:rPr>
              <a:t>이미지를 삽입해주세요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4653280" y="3429000"/>
            <a:ext cx="3769360" cy="3425432"/>
          </a:xfrm>
          <a:prstGeom prst="rect">
            <a:avLst/>
          </a:prstGeom>
          <a:solidFill>
            <a:srgbClr val="528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ko-KR" altLang="en-US" sz="1200">
                <a:latin typeface="Pretendard"/>
                <a:ea typeface="Pretendard"/>
                <a:cs typeface="Pretendard"/>
              </a:rPr>
              <a:t>이미지를 삽입해주세요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8422640" y="3429001"/>
            <a:ext cx="3769360" cy="3425432"/>
          </a:xfrm>
          <a:prstGeom prst="rect">
            <a:avLst/>
          </a:prstGeom>
          <a:solidFill>
            <a:srgbClr val="A3C0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ko-KR" altLang="en-US" sz="1200">
                <a:latin typeface="Pretendard"/>
                <a:ea typeface="Pretendard"/>
                <a:cs typeface="Pretendard"/>
              </a:rPr>
              <a:t>이미지를 삽입해주세요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425" y="366161"/>
            <a:ext cx="3423438" cy="68082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en-US" altLang="ko-KR" sz="32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PROJECT</a:t>
            </a:r>
            <a:r>
              <a:rPr kumimoji="1" lang="ko-KR" altLang="en-US" sz="16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슈어소프트테크</a:t>
            </a:r>
            <a:r>
              <a:rPr kumimoji="1" lang="en-US" altLang="ko-KR" sz="16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(</a:t>
            </a:r>
            <a:r>
              <a:rPr kumimoji="1" lang="ko-KR" altLang="en-US" sz="16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주</a:t>
            </a:r>
            <a:r>
              <a:rPr kumimoji="1" lang="en-US" altLang="ko-KR" sz="160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4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)</a:t>
            </a:r>
            <a:endParaRPr kumimoji="1" lang="en-US" altLang="ko-KR" sz="1600">
              <a:solidFill>
                <a:srgbClr val="000000"/>
              </a:solidFill>
              <a:latin typeface="Pretendard"/>
              <a:ea typeface="Pretendard"/>
              <a:cs typeface="Pretendard"/>
            </a:endParaRPr>
          </a:p>
        </p:txBody>
      </p:sp>
      <p:pic>
        <p:nvPicPr>
          <p:cNvPr id="73" name="그래픽 19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561878" y="6188937"/>
            <a:ext cx="216027" cy="216027"/>
          </a:xfrm>
          <a:prstGeom prst="rect">
            <a:avLst/>
          </a:prstGeom>
        </p:spPr>
      </p:pic>
      <p:sp>
        <p:nvSpPr>
          <p:cNvPr id="74" name="TextBox 48"/>
          <p:cNvSpPr txBox="1"/>
          <p:nvPr/>
        </p:nvSpPr>
        <p:spPr>
          <a:xfrm>
            <a:off x="1209888" y="6126494"/>
            <a:ext cx="3381598" cy="548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CANoe/CANalyzer/CAPL/Matlab Simulink/Tracecase32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Google issue tracker/Car Key Test Apps</a:t>
            </a:r>
          </a:p>
        </p:txBody>
      </p:sp>
      <p:sp>
        <p:nvSpPr>
          <p:cNvPr id="75" name="TextBox 50"/>
          <p:cNvSpPr txBox="1"/>
          <p:nvPr/>
        </p:nvSpPr>
        <p:spPr>
          <a:xfrm>
            <a:off x="730587" y="6174938"/>
            <a:ext cx="813877" cy="243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스킬</a:t>
            </a:r>
          </a:p>
        </p:txBody>
      </p:sp>
      <p:pic>
        <p:nvPicPr>
          <p:cNvPr id="76" name="그래픽 20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561211" y="5892135"/>
            <a:ext cx="216027" cy="216027"/>
          </a:xfrm>
          <a:prstGeom prst="rect">
            <a:avLst/>
          </a:prstGeom>
        </p:spPr>
      </p:pic>
      <p:pic>
        <p:nvPicPr>
          <p:cNvPr id="78" name="그래픽 29"/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579010" y="5621046"/>
            <a:ext cx="216027" cy="216027"/>
          </a:xfrm>
          <a:prstGeom prst="rect">
            <a:avLst/>
          </a:prstGeom>
        </p:spPr>
      </p:pic>
      <p:sp>
        <p:nvSpPr>
          <p:cNvPr id="80" name="TextBox 3"/>
          <p:cNvSpPr txBox="1"/>
          <p:nvPr/>
        </p:nvSpPr>
        <p:spPr>
          <a:xfrm>
            <a:off x="728768" y="4663980"/>
            <a:ext cx="467572" cy="239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성과</a:t>
            </a:r>
          </a:p>
        </p:txBody>
      </p:sp>
      <p:sp>
        <p:nvSpPr>
          <p:cNvPr id="81" name="TextBox 4"/>
          <p:cNvSpPr txBox="1"/>
          <p:nvPr/>
        </p:nvSpPr>
        <p:spPr>
          <a:xfrm>
            <a:off x="1163921" y="4613585"/>
            <a:ext cx="3442369" cy="10042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애플社 테스트케이스 및 HMC TDP </a:t>
            </a:r>
            <a:r>
              <a:rPr lang="zh-CN" altLang="en-US" sz="1000" u="sng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5,260건 수행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디지털 키 2 </a:t>
            </a:r>
            <a:r>
              <a:rPr lang="zh-CN" altLang="en-US" sz="1000" u="sng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13개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차종 </a:t>
            </a:r>
            <a:r>
              <a:rPr lang="zh-CN" altLang="en-US" sz="1000" u="sng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애플 MFi 인증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확보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38건 유저 시나리오 기반 UWB 측위 성능 평가 수행</a:t>
            </a:r>
          </a:p>
          <a:p>
            <a:pPr>
              <a:lnSpc>
                <a:spcPct val="150000"/>
              </a:lnSpc>
              <a:defRPr/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SMK Door lock warning 기능, 테스트 스크립트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65건 개발</a:t>
            </a:r>
          </a:p>
        </p:txBody>
      </p:sp>
      <p:sp>
        <p:nvSpPr>
          <p:cNvPr id="93" name="TextBox 6"/>
          <p:cNvSpPr txBox="1"/>
          <p:nvPr/>
        </p:nvSpPr>
        <p:spPr>
          <a:xfrm>
            <a:off x="515945" y="2369180"/>
            <a:ext cx="4008955" cy="12777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ko-KR" altLang="en-US" sz="1000" b="1">
                <a:latin typeface="Pretendard"/>
                <a:ea typeface="Pretendard"/>
                <a:cs typeface="Pretendard"/>
              </a:rPr>
              <a:t>디지털 키 2 폰 연동 기능 검증 용역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1000">
                <a:latin typeface="Pretendard"/>
                <a:ea typeface="Pretendard"/>
                <a:cs typeface="Pretendard"/>
              </a:rPr>
              <a:t>- 애플社 테스트케이스 기반 검증 수행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1000">
                <a:latin typeface="Pretendard"/>
                <a:ea typeface="Pretendard"/>
                <a:cs typeface="Pretendard"/>
              </a:rPr>
              <a:t>- HMC TDP 기본제어기능 검증 수행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1000">
                <a:latin typeface="Pretendard"/>
                <a:ea typeface="Pretendard"/>
                <a:cs typeface="Pretendard"/>
              </a:rPr>
              <a:t>- CANalyzer</a:t>
            </a:r>
            <a:r>
              <a:rPr lang="en-US" altLang="zh-CN" sz="1000">
                <a:latin typeface="Pretendard"/>
                <a:ea typeface="Pretendard"/>
                <a:cs typeface="Pretendard"/>
              </a:rPr>
              <a:t>/CAPL</a:t>
            </a:r>
            <a:r>
              <a:rPr lang="zh-CN" altLang="en-US" sz="1000">
                <a:latin typeface="Pretendard"/>
                <a:ea typeface="Pretendard"/>
                <a:cs typeface="Pretendard"/>
              </a:rPr>
              <a:t> 활용 입출력 통신 확인 및 차량 로그 취득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1000">
                <a:latin typeface="Pretendard"/>
                <a:ea typeface="Pretendard"/>
                <a:cs typeface="Pretendard"/>
              </a:rPr>
              <a:t>- 차종별 검증 결과 및 이슈 보고서 작성 및 제출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1000">
                <a:latin typeface="Pretendard"/>
                <a:ea typeface="Pretendard"/>
                <a:cs typeface="Pretendard"/>
              </a:rPr>
              <a:t>- 실차 리그레이션 평가 수행</a:t>
            </a:r>
          </a:p>
        </p:txBody>
      </p:sp>
      <p:pic>
        <p:nvPicPr>
          <p:cNvPr id="94" name="그래픽 113"/>
          <p:cNvPicPr/>
          <p:nvPr/>
        </p:nvPicPr>
        <p:blipFill rotWithShape="1">
          <a:blip r:embed="rId5"/>
          <a:stretch>
            <a:fillRect/>
          </a:stretch>
        </p:blipFill>
        <p:spPr>
          <a:xfrm>
            <a:off x="571230" y="4675302"/>
            <a:ext cx="216027" cy="216027"/>
          </a:xfrm>
          <a:prstGeom prst="rect">
            <a:avLst/>
          </a:prstGeom>
        </p:spPr>
      </p:pic>
      <p:sp>
        <p:nvSpPr>
          <p:cNvPr id="96" name="TextBox 7"/>
          <p:cNvSpPr txBox="1"/>
          <p:nvPr/>
        </p:nvSpPr>
        <p:spPr>
          <a:xfrm>
            <a:off x="429133" y="3674836"/>
            <a:ext cx="4094403" cy="289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300" b="1">
                <a:solidFill>
                  <a:srgbClr val="000000"/>
                </a:solidFill>
                <a:effectLst/>
                <a:latin typeface="Pretendard"/>
                <a:ea typeface="Pretendard"/>
                <a:cs typeface="Pretendard"/>
              </a:rPr>
              <a:t>모베이스전자 </a:t>
            </a:r>
            <a:r>
              <a:rPr lang="en-US" altLang="ko-KR" sz="1300" b="1">
                <a:solidFill>
                  <a:srgbClr val="000000"/>
                </a:solidFill>
                <a:effectLst/>
                <a:latin typeface="Pretendard"/>
                <a:ea typeface="Pretendard"/>
                <a:cs typeface="Pretendard"/>
              </a:rPr>
              <a:t>SMK </a:t>
            </a:r>
            <a:r>
              <a:rPr lang="ko-KR" altLang="en-US" sz="1300" b="1">
                <a:solidFill>
                  <a:srgbClr val="000000"/>
                </a:solidFill>
                <a:effectLst/>
                <a:latin typeface="Pretendard"/>
                <a:ea typeface="Pretendard"/>
                <a:cs typeface="Pretendard"/>
              </a:rPr>
              <a:t>테스트케이스 표준화</a:t>
            </a:r>
          </a:p>
        </p:txBody>
      </p:sp>
      <p:sp>
        <p:nvSpPr>
          <p:cNvPr id="98" name="TextBox 6"/>
          <p:cNvSpPr txBox="1"/>
          <p:nvPr/>
        </p:nvSpPr>
        <p:spPr>
          <a:xfrm>
            <a:off x="520106" y="3928875"/>
            <a:ext cx="4008955" cy="679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ko-KR" altLang="en-US" sz="1000" b="1">
                <a:latin typeface="Pretendard"/>
                <a:ea typeface="Pretendard"/>
                <a:cs typeface="Pretendard"/>
              </a:rPr>
              <a:t>SMK HILS 환경 구축 및 테스트케이스 표준화</a:t>
            </a:r>
          </a:p>
          <a:p>
            <a:pPr>
              <a:lnSpc>
                <a:spcPct val="130000"/>
              </a:lnSpc>
              <a:defRPr/>
            </a:pPr>
            <a:r>
              <a:rPr lang="zh-CN" altLang="en-US" sz="1000"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BDC/SMK 제어 로직 Simulink 모델 분석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HILS 자동화 테스트 스크립트 개발</a:t>
            </a:r>
          </a:p>
        </p:txBody>
      </p:sp>
      <p:pic>
        <p:nvPicPr>
          <p:cNvPr id="101" name="그림 100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8423628" y="5128155"/>
            <a:ext cx="3768373" cy="1729845"/>
          </a:xfrm>
          <a:prstGeom prst="rect">
            <a:avLst/>
          </a:prstGeom>
        </p:spPr>
      </p:pic>
      <p:pic>
        <p:nvPicPr>
          <p:cNvPr id="108" name="그림 10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382708" y="0"/>
            <a:ext cx="3809292" cy="1667357"/>
          </a:xfrm>
          <a:prstGeom prst="rect">
            <a:avLst/>
          </a:prstGeom>
        </p:spPr>
      </p:pic>
      <p:pic>
        <p:nvPicPr>
          <p:cNvPr id="110" name="그림 109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651904" y="0"/>
            <a:ext cx="3749500" cy="3428999"/>
          </a:xfrm>
          <a:prstGeom prst="rect">
            <a:avLst/>
          </a:prstGeom>
        </p:spPr>
      </p:pic>
      <p:pic>
        <p:nvPicPr>
          <p:cNvPr id="111" name="그림 110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394347" y="1635828"/>
            <a:ext cx="3797654" cy="1793171"/>
          </a:xfrm>
          <a:prstGeom prst="rect">
            <a:avLst/>
          </a:prstGeom>
        </p:spPr>
      </p:pic>
      <p:pic>
        <p:nvPicPr>
          <p:cNvPr id="3" name="그림 2" descr="텍스트, 스크린샷, 폰트, 번호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4653279" y="3425430"/>
            <a:ext cx="3773522" cy="3425432"/>
          </a:xfrm>
          <a:prstGeom prst="rect">
            <a:avLst/>
          </a:prstGeom>
        </p:spPr>
      </p:pic>
      <p:pic>
        <p:nvPicPr>
          <p:cNvPr id="5" name="그림 4" descr="텍스트, 스크린샷, 도표이(가) 표시된 사진  AI 생성 콘텐츠는 정확하지 않을 수 있습니다.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8429697" y="3423078"/>
            <a:ext cx="3790596" cy="169091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467404" y="1052226"/>
            <a:ext cx="2763385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3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HKMC </a:t>
            </a:r>
            <a:r>
              <a:rPr lang="en-US" altLang="ko-KR" sz="13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AVN(</a:t>
            </a:r>
            <a:r>
              <a:rPr lang="en-US" altLang="ko-KR" sz="1300" b="1" dirty="0" err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ccNC</a:t>
            </a:r>
            <a:r>
              <a:rPr lang="en-US" altLang="ko-KR" sz="13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/WIDE) </a:t>
            </a:r>
            <a:r>
              <a:rPr lang="ko-KR" altLang="en-US" sz="13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자동화 평가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3095" y="1321776"/>
            <a:ext cx="4900403" cy="14766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ko-KR" altLang="en-US" sz="1000" dirty="0">
                <a:latin typeface="Pretendard"/>
                <a:ea typeface="Pretendard"/>
                <a:cs typeface="Pretendard"/>
              </a:rPr>
              <a:t>- AVN SRS 요구사양서 분석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 dirty="0">
                <a:latin typeface="Pretendard"/>
                <a:ea typeface="Pretendard"/>
                <a:cs typeface="Pretendard"/>
              </a:rPr>
              <a:t>- 테스트케이스 설계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 dirty="0">
                <a:latin typeface="Pretendard"/>
                <a:ea typeface="Pretendard"/>
                <a:cs typeface="Pretendard"/>
              </a:rPr>
              <a:t>- 테스트케이스 기반 자동화 테스트 스크립트 구현 (</a:t>
            </a:r>
            <a:r>
              <a:rPr lang="ko-KR" altLang="en-US" sz="1000" dirty="0" err="1">
                <a:latin typeface="Pretendard"/>
                <a:ea typeface="Pretendard"/>
                <a:cs typeface="Pretendard"/>
              </a:rPr>
              <a:t>C언어</a:t>
            </a:r>
            <a:r>
              <a:rPr lang="ko-KR" altLang="en-US" sz="1000" dirty="0">
                <a:latin typeface="Pretendard"/>
                <a:ea typeface="Pretendard"/>
                <a:cs typeface="Pretendard"/>
              </a:rPr>
              <a:t>)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 dirty="0">
                <a:latin typeface="Pretendard"/>
                <a:ea typeface="Pretendard"/>
                <a:cs typeface="Pretendard"/>
              </a:rPr>
              <a:t>- </a:t>
            </a:r>
            <a:r>
              <a:rPr lang="en-US" altLang="ko-KR" sz="1000" dirty="0">
                <a:latin typeface="Pretendard"/>
                <a:ea typeface="Pretendard"/>
                <a:cs typeface="Pretendard"/>
              </a:rPr>
              <a:t>C</a:t>
            </a:r>
            <a:r>
              <a:rPr lang="ko-KR" altLang="en-US" sz="1000" dirty="0">
                <a:latin typeface="Pretendard"/>
                <a:ea typeface="Pretendard"/>
                <a:cs typeface="Pretendard"/>
              </a:rPr>
              <a:t>언어 기반 자동화 스크립트 테스트 수행 (기능/</a:t>
            </a:r>
            <a:r>
              <a:rPr lang="ko-KR" altLang="en-US" sz="1000" dirty="0" err="1">
                <a:latin typeface="Pretendard"/>
                <a:ea typeface="Pretendard"/>
                <a:cs typeface="Pretendard"/>
              </a:rPr>
              <a:t>비기능</a:t>
            </a:r>
            <a:r>
              <a:rPr lang="ko-KR" altLang="en-US" sz="1000" dirty="0">
                <a:latin typeface="Pretendard"/>
                <a:ea typeface="Pretendard"/>
                <a:cs typeface="Pretendard"/>
              </a:rPr>
              <a:t>/RVM/SVM/AMP)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 dirty="0">
                <a:latin typeface="Pretendard"/>
                <a:ea typeface="Pretendard"/>
                <a:cs typeface="Pretendard"/>
              </a:rPr>
              <a:t>- 테스트 결과 리포팅 및 산출물 제출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 dirty="0">
                <a:latin typeface="Pretendard"/>
                <a:ea typeface="Pretendard"/>
                <a:cs typeface="Pretendard"/>
              </a:rPr>
              <a:t>- </a:t>
            </a:r>
            <a:r>
              <a:rPr lang="ko-KR" altLang="en-US" sz="1000" dirty="0" err="1">
                <a:latin typeface="Pretendard"/>
                <a:ea typeface="Pretendard"/>
                <a:cs typeface="Pretendard"/>
              </a:rPr>
              <a:t>Source</a:t>
            </a:r>
            <a:r>
              <a:rPr lang="ko-KR" altLang="en-US" sz="1000" dirty="0">
                <a:latin typeface="Pretendard"/>
                <a:ea typeface="Pretendard"/>
                <a:cs typeface="Pretendard"/>
              </a:rPr>
              <a:t> </a:t>
            </a:r>
            <a:r>
              <a:rPr lang="ko-KR" altLang="en-US" sz="1000" dirty="0" err="1">
                <a:latin typeface="Pretendard"/>
                <a:ea typeface="Pretendard"/>
                <a:cs typeface="Pretendard"/>
              </a:rPr>
              <a:t>tree를</a:t>
            </a:r>
            <a:r>
              <a:rPr lang="ko-KR" altLang="en-US" sz="1000" dirty="0">
                <a:latin typeface="Pretendard"/>
                <a:ea typeface="Pretendard"/>
                <a:cs typeface="Pretendard"/>
              </a:rPr>
              <a:t> 통한 공유체계 활용 </a:t>
            </a:r>
            <a:r>
              <a:rPr lang="en-US" altLang="ko-KR" sz="1000" dirty="0">
                <a:latin typeface="Pretendard"/>
                <a:ea typeface="Pretendard"/>
                <a:cs typeface="Pretendard"/>
              </a:rPr>
              <a:t>(Bitbucket</a:t>
            </a:r>
            <a:r>
              <a:rPr lang="ko-KR" altLang="en-US" sz="1000" dirty="0">
                <a:latin typeface="Pretendard"/>
                <a:ea typeface="Pretendard"/>
                <a:cs typeface="Pretendard"/>
              </a:rPr>
              <a:t> 연동</a:t>
            </a:r>
            <a:r>
              <a:rPr lang="en-US" altLang="ko-KR" sz="1000" dirty="0">
                <a:latin typeface="Pretendard"/>
                <a:ea typeface="Pretendard"/>
                <a:cs typeface="Pretendard"/>
              </a:rPr>
              <a:t>)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 dirty="0">
                <a:latin typeface="Pretendard"/>
                <a:ea typeface="Pretendard"/>
                <a:cs typeface="Pretendard"/>
              </a:rPr>
              <a:t>- 정기 업데이트 OTA 평가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2876" y="5577480"/>
            <a:ext cx="460689" cy="24066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기간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9970" y="5575395"/>
            <a:ext cx="2169970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2019.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01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~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2023.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05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총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4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년 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5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개월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5651" y="5851342"/>
            <a:ext cx="460689" cy="24275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역할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59970" y="5874752"/>
            <a:ext cx="2465245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현대</a:t>
            </a:r>
            <a:r>
              <a:rPr lang="en-US" altLang="ko-KR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</a:t>
            </a: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기아자동차 내비게이션 자동화 평가</a:t>
            </a:r>
          </a:p>
        </p:txBody>
      </p:sp>
      <p:sp>
        <p:nvSpPr>
          <p:cNvPr id="60" name="직사각형 59"/>
          <p:cNvSpPr/>
          <p:nvPr/>
        </p:nvSpPr>
        <p:spPr>
          <a:xfrm>
            <a:off x="4653280" y="-1"/>
            <a:ext cx="7538720" cy="34254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ko-KR" altLang="en-US" sz="1200">
                <a:latin typeface="Pretendard"/>
                <a:ea typeface="Pretendard"/>
                <a:cs typeface="Pretendard"/>
              </a:rPr>
              <a:t>이미지를 삽입해주세요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4653280" y="3429000"/>
            <a:ext cx="3769360" cy="3425432"/>
          </a:xfrm>
          <a:prstGeom prst="rect">
            <a:avLst/>
          </a:prstGeom>
          <a:solidFill>
            <a:srgbClr val="5288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ko-KR" altLang="en-US" sz="1200">
                <a:latin typeface="Pretendard"/>
                <a:ea typeface="Pretendard"/>
                <a:cs typeface="Pretendard"/>
              </a:rPr>
              <a:t>이미지를 삽입해주세요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8422640" y="3432568"/>
            <a:ext cx="3769360" cy="34254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kumimoji="1" lang="ko-KR" altLang="en-US" sz="1200">
                <a:latin typeface="Pretendard"/>
                <a:ea typeface="Pretendard"/>
                <a:cs typeface="Pretendard"/>
              </a:rPr>
              <a:t>이미지를 삽입해주세요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425" y="366161"/>
            <a:ext cx="3251365" cy="7273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en-US" altLang="ko-KR" sz="3200" b="1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PROJECT</a:t>
            </a:r>
            <a:r>
              <a:rPr kumimoji="1" lang="en-US" altLang="ko-KR" sz="1600">
                <a:solidFill>
                  <a:srgbClr val="000000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(</a:t>
            </a:r>
            <a:r>
              <a:rPr kumimoji="1" lang="ko-KR" altLang="en-US" sz="1600">
                <a:solidFill>
                  <a:srgbClr val="000000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주</a:t>
            </a:r>
            <a:r>
              <a:rPr kumimoji="1" lang="en-US" altLang="ko-KR" sz="1600">
                <a:solidFill>
                  <a:srgbClr val="000000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)</a:t>
            </a:r>
            <a:r>
              <a:rPr kumimoji="1" lang="ko-KR" altLang="en-US" sz="1600">
                <a:solidFill>
                  <a:srgbClr val="000000"/>
                </a:solidFill>
                <a:effectLst>
                  <a:outerShdw blurRad="76200" dist="76200" dir="2700000" algn="ctr" rotWithShape="0">
                    <a:srgbClr val="000000">
                      <a:alpha val="50000"/>
                    </a:srgbClr>
                  </a:outerShdw>
                </a:effectLst>
                <a:latin typeface="Pretendard"/>
                <a:ea typeface="Pretendard"/>
                <a:cs typeface="Pretendard"/>
              </a:rPr>
              <a:t>큐아이엠</a:t>
            </a:r>
          </a:p>
        </p:txBody>
      </p:sp>
      <p:pic>
        <p:nvPicPr>
          <p:cNvPr id="73" name="그래픽 19"/>
          <p:cNvPicPr/>
          <p:nvPr/>
        </p:nvPicPr>
        <p:blipFill rotWithShape="1">
          <a:blip r:embed="rId2"/>
          <a:stretch>
            <a:fillRect/>
          </a:stretch>
        </p:blipFill>
        <p:spPr>
          <a:xfrm>
            <a:off x="533303" y="6160362"/>
            <a:ext cx="216027" cy="216027"/>
          </a:xfrm>
          <a:prstGeom prst="rect">
            <a:avLst/>
          </a:prstGeom>
        </p:spPr>
      </p:pic>
      <p:sp>
        <p:nvSpPr>
          <p:cNvPr id="74" name="TextBox 48"/>
          <p:cNvSpPr txBox="1"/>
          <p:nvPr/>
        </p:nvSpPr>
        <p:spPr>
          <a:xfrm>
            <a:off x="1181313" y="6097919"/>
            <a:ext cx="3381598" cy="5486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AUTOBE MAT3(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Linkgenisis</a:t>
            </a:r>
            <a:r>
              <a:rPr lang="ko-KR" altLang="en-US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社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)/Jira/Confluence/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CANoe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/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Source tree/Bitbucket</a:t>
            </a:r>
          </a:p>
        </p:txBody>
      </p:sp>
      <p:sp>
        <p:nvSpPr>
          <p:cNvPr id="75" name="TextBox 50"/>
          <p:cNvSpPr txBox="1"/>
          <p:nvPr/>
        </p:nvSpPr>
        <p:spPr>
          <a:xfrm>
            <a:off x="702012" y="6146363"/>
            <a:ext cx="813877" cy="243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ko-KR" altLang="en-US" sz="100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스킬</a:t>
            </a:r>
          </a:p>
        </p:txBody>
      </p:sp>
      <p:pic>
        <p:nvPicPr>
          <p:cNvPr id="76" name="그래픽 20"/>
          <p:cNvPicPr/>
          <p:nvPr/>
        </p:nvPicPr>
        <p:blipFill rotWithShape="1">
          <a:blip r:embed="rId3"/>
          <a:stretch>
            <a:fillRect/>
          </a:stretch>
        </p:blipFill>
        <p:spPr>
          <a:xfrm>
            <a:off x="532636" y="5863560"/>
            <a:ext cx="216027" cy="216027"/>
          </a:xfrm>
          <a:prstGeom prst="rect">
            <a:avLst/>
          </a:prstGeom>
        </p:spPr>
      </p:pic>
      <p:pic>
        <p:nvPicPr>
          <p:cNvPr id="78" name="그래픽 29"/>
          <p:cNvPicPr/>
          <p:nvPr/>
        </p:nvPicPr>
        <p:blipFill rotWithShape="1">
          <a:blip r:embed="rId4"/>
          <a:stretch>
            <a:fillRect/>
          </a:stretch>
        </p:blipFill>
        <p:spPr>
          <a:xfrm>
            <a:off x="550435" y="5592471"/>
            <a:ext cx="216027" cy="216027"/>
          </a:xfrm>
          <a:prstGeom prst="rect">
            <a:avLst/>
          </a:prstGeom>
        </p:spPr>
      </p:pic>
      <p:sp>
        <p:nvSpPr>
          <p:cNvPr id="80" name="TextBox 3"/>
          <p:cNvSpPr txBox="1"/>
          <p:nvPr/>
        </p:nvSpPr>
        <p:spPr>
          <a:xfrm>
            <a:off x="700193" y="4635405"/>
            <a:ext cx="467572" cy="23949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000" b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성과</a:t>
            </a:r>
          </a:p>
        </p:txBody>
      </p:sp>
      <p:sp>
        <p:nvSpPr>
          <p:cNvPr id="81" name="TextBox 4"/>
          <p:cNvSpPr txBox="1"/>
          <p:nvPr/>
        </p:nvSpPr>
        <p:spPr>
          <a:xfrm>
            <a:off x="1130907" y="4585010"/>
            <a:ext cx="3627783" cy="10042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C언어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기반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u="sng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자동화</a:t>
            </a:r>
            <a:r>
              <a:rPr lang="en-US" altLang="ko-KR" sz="1000" u="sng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u="sng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테스트</a:t>
            </a:r>
            <a:r>
              <a:rPr lang="ko-KR" altLang="en-US" sz="1000" u="sng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u="sng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스크립트</a:t>
            </a:r>
            <a:r>
              <a:rPr lang="en-US" altLang="ko-KR" sz="1000" u="sng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1,562건 </a:t>
            </a:r>
            <a:r>
              <a:rPr lang="en-US" altLang="ko-KR" sz="1000" u="sng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구현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(100% 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기여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코드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최적화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및 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딜레이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수정을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통한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u="sng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자동화</a:t>
            </a:r>
            <a:r>
              <a:rPr lang="en-US" altLang="ko-KR" sz="1000" u="sng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u="sng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평가</a:t>
            </a:r>
            <a:r>
              <a:rPr lang="en-US" altLang="ko-KR" sz="1000" u="sng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u="sng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시간</a:t>
            </a:r>
            <a:r>
              <a:rPr lang="en-US" altLang="ko-KR" sz="1000" u="sng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u="sng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단축</a:t>
            </a:r>
            <a:r>
              <a:rPr lang="en-US" altLang="ko-KR" sz="1000" u="sng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(340시간 → 280시간)</a:t>
            </a:r>
          </a:p>
          <a:p>
            <a:pPr>
              <a:lnSpc>
                <a:spcPct val="150000"/>
              </a:lnSpc>
              <a:defRPr/>
            </a:pP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A/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B급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이슈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558건 </a:t>
            </a:r>
            <a:r>
              <a:rPr lang="en-US" altLang="ko-KR" sz="1000" dirty="0" err="1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등재</a:t>
            </a:r>
            <a:r>
              <a:rPr lang="en-US" altLang="ko-KR" sz="1000" dirty="0">
                <a:solidFill>
                  <a:schemeClr val="bg1">
                    <a:lumMod val="50000"/>
                  </a:schemeClr>
                </a:solidFill>
                <a:latin typeface="Pretendard"/>
                <a:ea typeface="Pretendard"/>
                <a:cs typeface="Pretendard"/>
              </a:rPr>
              <a:t> (JIRA/Confluence)</a:t>
            </a:r>
          </a:p>
        </p:txBody>
      </p:sp>
      <p:pic>
        <p:nvPicPr>
          <p:cNvPr id="94" name="그래픽 113"/>
          <p:cNvPicPr/>
          <p:nvPr/>
        </p:nvPicPr>
        <p:blipFill rotWithShape="1">
          <a:blip r:embed="rId5"/>
          <a:stretch>
            <a:fillRect/>
          </a:stretch>
        </p:blipFill>
        <p:spPr>
          <a:xfrm>
            <a:off x="542655" y="4646727"/>
            <a:ext cx="216027" cy="216027"/>
          </a:xfrm>
          <a:prstGeom prst="rect">
            <a:avLst/>
          </a:prstGeom>
        </p:spPr>
      </p:pic>
      <p:sp>
        <p:nvSpPr>
          <p:cNvPr id="96" name="TextBox 7"/>
          <p:cNvSpPr txBox="1"/>
          <p:nvPr/>
        </p:nvSpPr>
        <p:spPr>
          <a:xfrm>
            <a:off x="518914" y="2940302"/>
            <a:ext cx="4094403" cy="289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 sz="1300" b="1" dirty="0">
                <a:solidFill>
                  <a:srgbClr val="000000"/>
                </a:solidFill>
                <a:latin typeface="Pretendard"/>
                <a:ea typeface="Pretendard"/>
                <a:cs typeface="Pretendard"/>
              </a:rPr>
              <a:t>GENESIS 고급형 AVN 시험 평가</a:t>
            </a:r>
          </a:p>
        </p:txBody>
      </p:sp>
      <p:sp>
        <p:nvSpPr>
          <p:cNvPr id="98" name="TextBox 6"/>
          <p:cNvSpPr txBox="1"/>
          <p:nvPr/>
        </p:nvSpPr>
        <p:spPr>
          <a:xfrm>
            <a:off x="556264" y="3194341"/>
            <a:ext cx="4008955" cy="108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AVN SRS 요구사양서 분석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테스트케이스 설계 및 검증 수행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 (Map </a:t>
            </a:r>
            <a:r>
              <a:rPr lang="ko-KR" altLang="en-US" sz="1000">
                <a:latin typeface="Pretendard"/>
                <a:ea typeface="Pretendard"/>
                <a:cs typeface="Pretendard"/>
              </a:rPr>
              <a:t>가상 주행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/Media/VR/SVM)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이슈 보고 및 개선 확인 평가</a:t>
            </a:r>
            <a:r>
              <a:rPr lang="en-US" altLang="ko-KR" sz="1000">
                <a:latin typeface="Pretendard"/>
                <a:ea typeface="Pretendard"/>
                <a:cs typeface="Pretendard"/>
              </a:rPr>
              <a:t> (Jira/Confluence)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테스트 결과 리포팅 및 산출물 제출</a:t>
            </a:r>
          </a:p>
          <a:p>
            <a:pPr>
              <a:lnSpc>
                <a:spcPct val="130000"/>
              </a:lnSpc>
              <a:defRPr/>
            </a:pPr>
            <a:r>
              <a:rPr lang="ko-KR" altLang="en-US" sz="1000">
                <a:latin typeface="Pretendard"/>
                <a:ea typeface="Pretendard"/>
                <a:cs typeface="Pretendard"/>
              </a:rPr>
              <a:t>- 신규 버전 릴리즈 시 변경점 및 side-effect 확인</a:t>
            </a:r>
          </a:p>
        </p:txBody>
      </p:sp>
      <p:pic>
        <p:nvPicPr>
          <p:cNvPr id="120" name="그림 119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4660606" y="0"/>
            <a:ext cx="3752729" cy="3429000"/>
          </a:xfrm>
          <a:prstGeom prst="rect">
            <a:avLst/>
          </a:prstGeom>
        </p:spPr>
      </p:pic>
      <p:pic>
        <p:nvPicPr>
          <p:cNvPr id="121" name="그림 120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8405460" y="0"/>
            <a:ext cx="3786541" cy="3429000"/>
          </a:xfrm>
          <a:prstGeom prst="rect">
            <a:avLst/>
          </a:prstGeom>
        </p:spPr>
      </p:pic>
      <p:pic>
        <p:nvPicPr>
          <p:cNvPr id="123" name="그림 122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4639557" y="3429000"/>
            <a:ext cx="3767193" cy="3429000"/>
          </a:xfrm>
          <a:prstGeom prst="rect">
            <a:avLst/>
          </a:prstGeom>
        </p:spPr>
      </p:pic>
      <p:pic>
        <p:nvPicPr>
          <p:cNvPr id="125" name="그림 124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8384468" y="3429000"/>
            <a:ext cx="3807531" cy="1644392"/>
          </a:xfrm>
          <a:prstGeom prst="rect">
            <a:avLst/>
          </a:prstGeom>
        </p:spPr>
      </p:pic>
      <p:pic>
        <p:nvPicPr>
          <p:cNvPr id="126" name="그림 125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8387820" y="5056893"/>
            <a:ext cx="3804179" cy="18011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38824" y="645549"/>
            <a:ext cx="11314351" cy="5566901"/>
          </a:xfrm>
          <a:prstGeom prst="rect">
            <a:avLst/>
          </a:prstGeom>
          <a:noFill/>
          <a:ln w="25400">
            <a:solidFill>
              <a:srgbClr val="56565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714375" y="525780"/>
            <a:ext cx="1941019" cy="266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1" name="TextBox 140"/>
          <p:cNvSpPr txBox="1"/>
          <p:nvPr/>
        </p:nvSpPr>
        <p:spPr>
          <a:xfrm>
            <a:off x="627765" y="423331"/>
            <a:ext cx="4597649" cy="336764"/>
          </a:xfrm>
          <a:prstGeom prst="rect">
            <a:avLst/>
          </a:prstGeom>
          <a:solidFill>
            <a:srgbClr val="f2f2f2"/>
          </a:solidFill>
          <a:scene3d>
            <a:camera prst="obliqueTopLeft"/>
            <a:lightRig rig="threePt" dir="t"/>
          </a:scene3d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en-US" altLang="ko-KR" sz="1600" b="1">
                <a:solidFill>
                  <a:srgbClr val="565658"/>
                </a:solidFill>
              </a:rPr>
              <a:t>HMC</a:t>
            </a:r>
            <a:r>
              <a:rPr lang="ko-KR" altLang="en-US" sz="1600" b="1">
                <a:solidFill>
                  <a:srgbClr val="565658"/>
                </a:solidFill>
              </a:rPr>
              <a:t> 주관 </a:t>
            </a:r>
            <a:r>
              <a:rPr lang="en-US" altLang="ko-KR" sz="1600" b="1">
                <a:solidFill>
                  <a:srgbClr val="565658"/>
                </a:solidFill>
              </a:rPr>
              <a:t>A-SPICE</a:t>
            </a:r>
            <a:r>
              <a:rPr lang="ko-KR" altLang="en-US" sz="1600" b="1">
                <a:solidFill>
                  <a:srgbClr val="565658"/>
                </a:solidFill>
              </a:rPr>
              <a:t> 심사</a:t>
            </a:r>
            <a:r>
              <a:rPr lang="en-US" altLang="ko-KR" sz="1600" b="1">
                <a:solidFill>
                  <a:srgbClr val="565658"/>
                </a:solidFill>
              </a:rPr>
              <a:t>, SWE.6</a:t>
            </a:r>
            <a:r>
              <a:rPr lang="ko-KR" altLang="en-US" sz="1600" b="1">
                <a:solidFill>
                  <a:srgbClr val="565658"/>
                </a:solidFill>
              </a:rPr>
              <a:t> 영역 </a:t>
            </a:r>
            <a:r>
              <a:rPr lang="en-US" altLang="ko-KR" sz="1600" b="1">
                <a:solidFill>
                  <a:srgbClr val="565658"/>
                </a:solidFill>
              </a:rPr>
              <a:t>CL1 </a:t>
            </a:r>
            <a:r>
              <a:rPr lang="ko-KR" altLang="en-US" sz="1600" b="1">
                <a:solidFill>
                  <a:srgbClr val="565658"/>
                </a:solidFill>
              </a:rPr>
              <a:t>달성</a:t>
            </a:r>
            <a:endParaRPr lang="ko-KR" altLang="en-US" sz="1600" b="1">
              <a:solidFill>
                <a:srgbClr val="565658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885825" y="1133891"/>
            <a:ext cx="422277" cy="4196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aphicFrame>
        <p:nvGraphicFramePr>
          <p:cNvPr id="14" name="개체 13"/>
          <p:cNvGraphicFramePr>
            <a:graphicFrameLocks noChangeAspect="1"/>
          </p:cNvGraphicFramePr>
          <p:nvPr/>
        </p:nvGraphicFramePr>
        <p:xfrm>
          <a:off x="10678214" y="5338618"/>
          <a:ext cx="1140900" cy="697221"/>
        </p:xfrm>
        <a:graphic>
          <a:graphicData uri="http://schemas.openxmlformats.org/presentationml/2006/ole">
            <p:oleObj spid="_x0000_s1027" name="포장기 셸 개체" showAsIcon="1" r:id="rId3" imgW="2445914" imgH="517956" progId="Package">
              <p:embed/>
            </p:oleObj>
          </a:graphicData>
        </a:graphic>
      </p:graphicFrame>
      <p:grpSp>
        <p:nvGrpSpPr>
          <p:cNvPr id="21" name="그룹 20"/>
          <p:cNvGrpSpPr/>
          <p:nvPr/>
        </p:nvGrpSpPr>
        <p:grpSpPr>
          <a:xfrm rot="0">
            <a:off x="5719494" y="6434668"/>
            <a:ext cx="753009" cy="94593"/>
            <a:chOff x="5390287" y="6434669"/>
            <a:chExt cx="753009" cy="94593"/>
          </a:xfrm>
        </p:grpSpPr>
        <p:sp>
          <p:nvSpPr>
            <p:cNvPr id="22" name="타원 21"/>
            <p:cNvSpPr/>
            <p:nvPr/>
          </p:nvSpPr>
          <p:spPr>
            <a:xfrm rot="16200000">
              <a:off x="5390287" y="6434669"/>
              <a:ext cx="94593" cy="94593"/>
            </a:xfrm>
            <a:prstGeom prst="ellipse">
              <a:avLst/>
            </a:prstGeom>
            <a:noFill/>
            <a:ln w="38100">
              <a:solidFill>
                <a:srgbClr val="f59daa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3" name="타원 22"/>
            <p:cNvSpPr/>
            <p:nvPr/>
          </p:nvSpPr>
          <p:spPr>
            <a:xfrm rot="16200000">
              <a:off x="5719495" y="6434669"/>
              <a:ext cx="94593" cy="94593"/>
            </a:xfrm>
            <a:prstGeom prst="ellipse">
              <a:avLst/>
            </a:prstGeom>
            <a:solidFill>
              <a:srgbClr val="5656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4" name="타원 23"/>
            <p:cNvSpPr/>
            <p:nvPr/>
          </p:nvSpPr>
          <p:spPr>
            <a:xfrm rot="16200000">
              <a:off x="6048703" y="6434669"/>
              <a:ext cx="94593" cy="94593"/>
            </a:xfrm>
            <a:prstGeom prst="ellipse">
              <a:avLst/>
            </a:prstGeom>
            <a:solidFill>
              <a:srgbClr val="5656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  <p:pic>
        <p:nvPicPr>
          <p:cNvPr id="210" name=""/>
          <p:cNvPicPr>
            <a:picLocks noChangeAspect="1"/>
          </p:cNvPicPr>
          <p:nvPr/>
        </p:nvPicPr>
        <p:blipFill rotWithShape="1">
          <a:blip r:embed="rId4">
            <a:alphaModFix/>
            <a:lum/>
          </a:blip>
          <a:stretch>
            <a:fillRect/>
          </a:stretch>
        </p:blipFill>
        <p:spPr>
          <a:xfrm>
            <a:off x="628835" y="850424"/>
            <a:ext cx="11063797" cy="5292672"/>
          </a:xfrm>
          <a:prstGeom prst="rect">
            <a:avLst/>
          </a:prstGeom>
          <a:pattFill prst="pct25">
            <a:fgClr>
              <a:schemeClr val="accent1"/>
            </a:fgClr>
            <a:bgClr>
              <a:schemeClr val="bg1"/>
            </a:bgClr>
          </a:pattFill>
        </p:spPr>
      </p:pic>
      <p:sp>
        <p:nvSpPr>
          <p:cNvPr id="211" name=""/>
          <p:cNvSpPr/>
          <p:nvPr/>
        </p:nvSpPr>
        <p:spPr>
          <a:xfrm>
            <a:off x="968497" y="1777198"/>
            <a:ext cx="1054223" cy="4004199"/>
          </a:xfrm>
          <a:prstGeom prst="rect">
            <a:avLst/>
          </a:prstGeom>
          <a:pattFill prst="pct25">
            <a:fgClr>
              <a:srgbClr val="1b1760"/>
            </a:fgClr>
            <a:bgClr>
              <a:schemeClr val="bg1"/>
            </a:bgClr>
          </a:pattFill>
          <a:ln w="12700" cap="flat" cmpd="sng" algn="ctr">
            <a:noFill/>
            <a:prstDash val="solid"/>
            <a:miter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algn="ctr">
              <a:defRPr/>
            </a:pPr>
            <a:endParaRPr lang="ko-KR" altLang="en-US"/>
          </a:p>
        </p:txBody>
      </p:sp>
      <p:sp>
        <p:nvSpPr>
          <p:cNvPr id="212" name=""/>
          <p:cNvSpPr/>
          <p:nvPr/>
        </p:nvSpPr>
        <p:spPr>
          <a:xfrm>
            <a:off x="3515742" y="2632876"/>
            <a:ext cx="989490" cy="3134927"/>
          </a:xfrm>
          <a:prstGeom prst="rect">
            <a:avLst/>
          </a:prstGeom>
          <a:pattFill prst="pct25">
            <a:fgClr>
              <a:srgbClr val="1b1760"/>
            </a:fgClr>
            <a:bgClr>
              <a:schemeClr val="bg1"/>
            </a:bgClr>
          </a:pattFill>
          <a:ln w="12700" cap="flat" cmpd="sng" algn="ctr">
            <a:noFill/>
            <a:prstDash val="solid"/>
            <a:miter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3" name=""/>
          <p:cNvSpPr/>
          <p:nvPr/>
        </p:nvSpPr>
        <p:spPr>
          <a:xfrm>
            <a:off x="3519626" y="1796618"/>
            <a:ext cx="1017233" cy="397646"/>
          </a:xfrm>
          <a:prstGeom prst="rect">
            <a:avLst/>
          </a:prstGeom>
          <a:pattFill prst="pct25">
            <a:fgClr>
              <a:srgbClr val="1b1760"/>
            </a:fgClr>
            <a:bgClr>
              <a:schemeClr val="bg1"/>
            </a:bgClr>
          </a:pattFill>
          <a:ln w="12700" cap="flat" cmpd="sng" algn="ctr">
            <a:noFill/>
            <a:prstDash val="solid"/>
            <a:miter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4" name=""/>
          <p:cNvSpPr/>
          <p:nvPr/>
        </p:nvSpPr>
        <p:spPr>
          <a:xfrm>
            <a:off x="9252424" y="1285776"/>
            <a:ext cx="1221793" cy="1190796"/>
          </a:xfrm>
          <a:prstGeom prst="rect">
            <a:avLst/>
          </a:prstGeom>
          <a:pattFill prst="pct25">
            <a:fgClr>
              <a:srgbClr val="1b1760"/>
            </a:fgClr>
            <a:bgClr>
              <a:schemeClr val="bg1"/>
            </a:bgClr>
          </a:pattFill>
          <a:ln w="12700" cap="flat" cmpd="sng" algn="ctr">
            <a:noFill/>
            <a:prstDash val="solid"/>
            <a:miter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5" name=""/>
          <p:cNvSpPr/>
          <p:nvPr/>
        </p:nvSpPr>
        <p:spPr>
          <a:xfrm>
            <a:off x="9243957" y="2650674"/>
            <a:ext cx="1239432" cy="797376"/>
          </a:xfrm>
          <a:prstGeom prst="rect">
            <a:avLst/>
          </a:prstGeom>
          <a:pattFill prst="pct25">
            <a:fgClr>
              <a:srgbClr val="1b1760"/>
            </a:fgClr>
            <a:bgClr>
              <a:schemeClr val="bg1"/>
            </a:bgClr>
          </a:pattFill>
          <a:ln w="12700" cap="flat" cmpd="sng" algn="ctr">
            <a:noFill/>
            <a:prstDash val="solid"/>
            <a:miter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6" name=""/>
          <p:cNvSpPr/>
          <p:nvPr/>
        </p:nvSpPr>
        <p:spPr>
          <a:xfrm>
            <a:off x="9222086" y="3945368"/>
            <a:ext cx="480961" cy="1100059"/>
          </a:xfrm>
          <a:prstGeom prst="rect">
            <a:avLst/>
          </a:prstGeom>
          <a:pattFill prst="pct25">
            <a:fgClr>
              <a:srgbClr val="1b1760"/>
            </a:fgClr>
            <a:bgClr>
              <a:schemeClr val="bg1"/>
            </a:bgClr>
          </a:pattFill>
          <a:ln w="12700" cap="flat" cmpd="sng" algn="ctr">
            <a:noFill/>
            <a:prstDash val="solid"/>
            <a:miter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7" name=""/>
          <p:cNvSpPr/>
          <p:nvPr/>
        </p:nvSpPr>
        <p:spPr>
          <a:xfrm>
            <a:off x="9215736" y="5226657"/>
            <a:ext cx="480961" cy="738464"/>
          </a:xfrm>
          <a:prstGeom prst="rect">
            <a:avLst/>
          </a:prstGeom>
          <a:pattFill prst="pct25">
            <a:fgClr>
              <a:srgbClr val="1b1760"/>
            </a:fgClr>
            <a:bgClr>
              <a:schemeClr val="bg1"/>
            </a:bgClr>
          </a:pattFill>
          <a:ln w="12700" cap="flat" cmpd="sng" algn="ctr">
            <a:noFill/>
            <a:prstDash val="solid"/>
            <a:miter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18" name=""/>
          <p:cNvSpPr/>
          <p:nvPr/>
        </p:nvSpPr>
        <p:spPr>
          <a:xfrm>
            <a:off x="3512730" y="2381151"/>
            <a:ext cx="992487" cy="211838"/>
          </a:xfrm>
          <a:prstGeom prst="rect">
            <a:avLst/>
          </a:prstGeom>
          <a:pattFill prst="pct25">
            <a:fgClr>
              <a:srgbClr val="1b1760"/>
            </a:fgClr>
            <a:bgClr>
              <a:schemeClr val="bg1"/>
            </a:bgClr>
          </a:pattFill>
          <a:ln w="12700" cap="flat" cmpd="sng" algn="ctr">
            <a:noFill/>
            <a:prstDash val="solid"/>
            <a:miter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xmlns:mc="http://schemas.openxmlformats.org/markup-compatibility/2006" xmlns:p14="http://schemas.microsoft.com/office/powerpoint/2010/main" spd="med" mc:Ignorable="p14" p14:dur="100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BF1A9CF-1FAB-8131-BFBB-B53E8A1CF8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141" y="792480"/>
            <a:ext cx="5332207" cy="5283598"/>
          </a:xfrm>
          <a:prstGeom prst="rect">
            <a:avLst/>
          </a:prstGeom>
        </p:spPr>
      </p:pic>
      <p:sp>
        <p:nvSpPr>
          <p:cNvPr id="6" name="직사각형 5"/>
          <p:cNvSpPr/>
          <p:nvPr/>
        </p:nvSpPr>
        <p:spPr>
          <a:xfrm>
            <a:off x="438824" y="645549"/>
            <a:ext cx="11314351" cy="5566901"/>
          </a:xfrm>
          <a:prstGeom prst="rect">
            <a:avLst/>
          </a:prstGeom>
          <a:noFill/>
          <a:ln w="25400">
            <a:solidFill>
              <a:srgbClr val="56565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714375" y="525780"/>
            <a:ext cx="1941019" cy="266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1" name="TextBox 140"/>
          <p:cNvSpPr txBox="1"/>
          <p:nvPr/>
        </p:nvSpPr>
        <p:spPr>
          <a:xfrm>
            <a:off x="627763" y="423331"/>
            <a:ext cx="3035552" cy="353943"/>
          </a:xfrm>
          <a:prstGeom prst="rect">
            <a:avLst/>
          </a:prstGeom>
          <a:solidFill>
            <a:srgbClr val="F2F2F2"/>
          </a:solidFill>
          <a:scene3d>
            <a:camera prst="obliqueTopLeft"/>
            <a:lightRig rig="threePt" dir="t"/>
          </a:scene3d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700" b="1">
                <a:solidFill>
                  <a:srgbClr val="565658"/>
                </a:solidFill>
                <a:latin typeface="+mn-ea"/>
              </a:rPr>
              <a:t>슈어소프트 기술 블로그 작성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885825" y="1133891"/>
            <a:ext cx="422277" cy="4196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2" name="TextBox 1"/>
          <p:cNvSpPr txBox="1"/>
          <p:nvPr/>
        </p:nvSpPr>
        <p:spPr>
          <a:xfrm>
            <a:off x="582045" y="5838941"/>
            <a:ext cx="4707341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000"/>
              <a:t>*</a:t>
            </a:r>
            <a:r>
              <a:rPr lang="ko-KR" altLang="en-US" sz="1000"/>
              <a:t>블로그 링크</a:t>
            </a:r>
            <a:r>
              <a:rPr lang="en-US" altLang="ko-KR" sz="1000"/>
              <a:t> : </a:t>
            </a:r>
            <a:r>
              <a:rPr lang="ko-KR" altLang="en-US" sz="1000">
                <a:hlinkClick r:id="rId3"/>
              </a:rPr>
              <a:t>차량 </a:t>
            </a:r>
            <a:r>
              <a:rPr lang="en-US" altLang="ko-KR" sz="1000">
                <a:hlinkClick r:id="rId3"/>
              </a:rPr>
              <a:t>ECU </a:t>
            </a:r>
            <a:r>
              <a:rPr lang="ko-KR" altLang="en-US" sz="1000">
                <a:hlinkClick r:id="rId3"/>
              </a:rPr>
              <a:t>엑세스 권한 획득을 위한 </a:t>
            </a:r>
            <a:r>
              <a:rPr lang="en-US" altLang="ko-KR" sz="1000">
                <a:hlinkClick r:id="rId3"/>
              </a:rPr>
              <a:t>Seed&amp;Key</a:t>
            </a:r>
            <a:r>
              <a:rPr lang="ko-KR" altLang="en-US" sz="1000">
                <a:hlinkClick r:id="rId3"/>
              </a:rPr>
              <a:t>의 개념</a:t>
            </a:r>
            <a:endParaRPr lang="ko-KR" altLang="en-US" sz="100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572797" y="871473"/>
            <a:ext cx="5523202" cy="320318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542652" y="4065467"/>
            <a:ext cx="5553348" cy="1784720"/>
          </a:xfrm>
          <a:prstGeom prst="rect">
            <a:avLst/>
          </a:prstGeom>
        </p:spPr>
      </p:pic>
      <p:sp>
        <p:nvSpPr>
          <p:cNvPr id="143" name="직사각형 142"/>
          <p:cNvSpPr/>
          <p:nvPr/>
        </p:nvSpPr>
        <p:spPr>
          <a:xfrm>
            <a:off x="6377910" y="1283498"/>
            <a:ext cx="3874454" cy="157376"/>
          </a:xfrm>
          <a:prstGeom prst="rect">
            <a:avLst/>
          </a:prstGeom>
          <a:noFill/>
          <a:ln w="38100" cap="flat" cmpd="sng" algn="ctr">
            <a:solidFill>
              <a:schemeClr val="accent1">
                <a:shade val="20000"/>
              </a:schemeClr>
            </a:solidFill>
            <a:prstDash val="solid"/>
            <a:miter/>
            <a:headEnd w="med" len="med"/>
            <a:tailEnd w="med" len="med"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391A8146-283B-13C6-9A03-5F4527CF7C28}"/>
              </a:ext>
            </a:extLst>
          </p:cNvPr>
          <p:cNvSpPr/>
          <p:nvPr/>
        </p:nvSpPr>
        <p:spPr>
          <a:xfrm rot="16200000">
            <a:off x="6377910" y="6434668"/>
            <a:ext cx="94593" cy="94593"/>
          </a:xfrm>
          <a:prstGeom prst="ellipse">
            <a:avLst/>
          </a:prstGeom>
          <a:solidFill>
            <a:srgbClr val="565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EA1C83E1-9099-6279-F982-7FFAE562F24E}"/>
              </a:ext>
            </a:extLst>
          </p:cNvPr>
          <p:cNvSpPr/>
          <p:nvPr/>
        </p:nvSpPr>
        <p:spPr>
          <a:xfrm rot="16200000">
            <a:off x="6048701" y="6439715"/>
            <a:ext cx="94593" cy="94593"/>
          </a:xfrm>
          <a:prstGeom prst="ellipse">
            <a:avLst/>
          </a:prstGeom>
          <a:noFill/>
          <a:ln w="38100">
            <a:solidFill>
              <a:srgbClr val="F2934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AEEAF9A2-3944-6D54-1E54-326CB6A619BA}"/>
              </a:ext>
            </a:extLst>
          </p:cNvPr>
          <p:cNvSpPr/>
          <p:nvPr/>
        </p:nvSpPr>
        <p:spPr>
          <a:xfrm rot="16200000">
            <a:off x="5719492" y="6434668"/>
            <a:ext cx="94593" cy="94593"/>
          </a:xfrm>
          <a:prstGeom prst="ellipse">
            <a:avLst/>
          </a:prstGeom>
          <a:solidFill>
            <a:srgbClr val="56565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1" animBg="1"/>
      <p:bldP spid="62" grpId="3" animBg="1"/>
      <p:bldP spid="141" grpId="4" animBg="1"/>
      <p:bldP spid="10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/>
        </p:nvSpPr>
        <p:spPr>
          <a:xfrm>
            <a:off x="438824" y="645549"/>
            <a:ext cx="11314351" cy="5566901"/>
          </a:xfrm>
          <a:prstGeom prst="rect">
            <a:avLst/>
          </a:prstGeom>
          <a:noFill/>
          <a:ln w="25400">
            <a:solidFill>
              <a:srgbClr val="565658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62" name="직사각형 61"/>
          <p:cNvSpPr/>
          <p:nvPr/>
        </p:nvSpPr>
        <p:spPr>
          <a:xfrm>
            <a:off x="714375" y="525780"/>
            <a:ext cx="1941019" cy="2667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141" name="TextBox 140"/>
          <p:cNvSpPr txBox="1"/>
          <p:nvPr/>
        </p:nvSpPr>
        <p:spPr>
          <a:xfrm>
            <a:off x="627771" y="423331"/>
            <a:ext cx="3502269" cy="336764"/>
          </a:xfrm>
          <a:prstGeom prst="rect">
            <a:avLst/>
          </a:prstGeom>
          <a:solidFill>
            <a:srgbClr val="F2F2F2"/>
          </a:solidFill>
          <a:scene3d>
            <a:camera prst="obliqueTopLeft"/>
            <a:lightRig rig="threePt" dir="t"/>
          </a:scene3d>
        </p:spPr>
        <p:txBody>
          <a:bodyPr wrap="none">
            <a:spAutoFit/>
          </a:bodyPr>
          <a:lstStyle/>
          <a:p>
            <a:pPr lvl="0">
              <a:defRPr/>
            </a:pPr>
            <a:r>
              <a:rPr lang="ko-KR" altLang="en-US" sz="1600" b="1" dirty="0">
                <a:solidFill>
                  <a:srgbClr val="565658"/>
                </a:solidFill>
              </a:rPr>
              <a:t>졸업 작품 </a:t>
            </a:r>
            <a:r>
              <a:rPr lang="en-US" altLang="ko-KR" sz="1600" b="1" dirty="0">
                <a:solidFill>
                  <a:srgbClr val="565658"/>
                </a:solidFill>
              </a:rPr>
              <a:t>(3D </a:t>
            </a:r>
            <a:r>
              <a:rPr lang="ko-KR" altLang="en-US" sz="1600" b="1" dirty="0">
                <a:solidFill>
                  <a:srgbClr val="565658"/>
                </a:solidFill>
              </a:rPr>
              <a:t>프린팅 로봇 팔 제작</a:t>
            </a:r>
            <a:r>
              <a:rPr lang="en-US" altLang="ko-KR" sz="1600" b="1" dirty="0">
                <a:solidFill>
                  <a:srgbClr val="565658"/>
                </a:solidFill>
              </a:rPr>
              <a:t>)</a:t>
            </a:r>
            <a:endParaRPr lang="ko-KR" altLang="en-US" sz="1600" b="1" dirty="0">
              <a:solidFill>
                <a:srgbClr val="565658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885825" y="1133891"/>
            <a:ext cx="422277" cy="41963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grpSp>
        <p:nvGrpSpPr>
          <p:cNvPr id="142" name="그룹 141"/>
          <p:cNvGrpSpPr/>
          <p:nvPr/>
        </p:nvGrpSpPr>
        <p:grpSpPr>
          <a:xfrm>
            <a:off x="759779" y="713018"/>
            <a:ext cx="3438148" cy="2769007"/>
            <a:chOff x="759779" y="713018"/>
            <a:chExt cx="3438148" cy="2769007"/>
          </a:xfrm>
        </p:grpSpPr>
        <p:sp>
          <p:nvSpPr>
            <p:cNvPr id="143" name="직사각형 142"/>
            <p:cNvSpPr/>
            <p:nvPr/>
          </p:nvSpPr>
          <p:spPr>
            <a:xfrm>
              <a:off x="769304" y="713018"/>
              <a:ext cx="3181524" cy="28922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69304" y="713018"/>
              <a:ext cx="3181524" cy="289229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38100" tIns="38100" rIns="38100" bIns="38100" anchor="b" anchorCtr="0">
              <a:noAutofit/>
            </a:bodyPr>
            <a:lstStyle/>
            <a:p>
              <a:pPr lvl="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ko-KR" sz="1000" kern="1200">
                  <a:solidFill>
                    <a:schemeClr val="bg1"/>
                  </a:solidFill>
                </a:rPr>
                <a:t>.</a:t>
              </a:r>
              <a:endParaRPr lang="ko-KR" altLang="en-US" sz="1000" kern="1200">
                <a:solidFill>
                  <a:schemeClr val="bg1"/>
                </a:solidFill>
              </a:endParaRPr>
            </a:p>
          </p:txBody>
        </p:sp>
        <p:sp>
          <p:nvSpPr>
            <p:cNvPr id="145" name="화살표: 갈매기형 수장 144"/>
            <p:cNvSpPr/>
            <p:nvPr/>
          </p:nvSpPr>
          <p:spPr>
            <a:xfrm>
              <a:off x="769304" y="1002248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6" name="화살표: 갈매기형 수장 145"/>
            <p:cNvSpPr/>
            <p:nvPr/>
          </p:nvSpPr>
          <p:spPr>
            <a:xfrm>
              <a:off x="1216485" y="1002248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7" name="화살표: 갈매기형 수장 146"/>
            <p:cNvSpPr/>
            <p:nvPr/>
          </p:nvSpPr>
          <p:spPr>
            <a:xfrm>
              <a:off x="1664020" y="1002248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8" name="화살표: 갈매기형 수장 147"/>
            <p:cNvSpPr/>
            <p:nvPr/>
          </p:nvSpPr>
          <p:spPr>
            <a:xfrm>
              <a:off x="2111201" y="1002248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49" name="화살표: 갈매기형 수장 148"/>
            <p:cNvSpPr/>
            <p:nvPr/>
          </p:nvSpPr>
          <p:spPr>
            <a:xfrm>
              <a:off x="2558735" y="1002248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0" name="화살표: 갈매기형 수장 149"/>
            <p:cNvSpPr/>
            <p:nvPr/>
          </p:nvSpPr>
          <p:spPr>
            <a:xfrm>
              <a:off x="3005916" y="1002248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1" name="화살표: 갈매기형 수장 150"/>
            <p:cNvSpPr/>
            <p:nvPr/>
          </p:nvSpPr>
          <p:spPr>
            <a:xfrm>
              <a:off x="3453451" y="1002248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2" name="직사각형 151"/>
            <p:cNvSpPr/>
            <p:nvPr/>
          </p:nvSpPr>
          <p:spPr>
            <a:xfrm>
              <a:off x="769304" y="1061165"/>
              <a:ext cx="3222884" cy="471336"/>
            </a:xfrm>
            <a:prstGeom prst="rect">
              <a:avLst/>
            </a:prstGeom>
            <a:solidFill>
              <a:schemeClr val="l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53" name="TextBox 152"/>
            <p:cNvSpPr txBox="1"/>
            <p:nvPr/>
          </p:nvSpPr>
          <p:spPr>
            <a:xfrm>
              <a:off x="769304" y="1061165"/>
              <a:ext cx="3222884" cy="471336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60960" tIns="60960" rIns="60960" bIns="60960" anchor="ctr" anchorCtr="0">
              <a:noAutofit/>
            </a:bodyPr>
            <a:lstStyle/>
            <a:p>
              <a:pPr lvl="0" algn="l" defTabSz="10668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ko-KR" sz="2000" b="1" kern="1200" dirty="0"/>
                <a:t>3D </a:t>
              </a:r>
              <a:r>
                <a:rPr lang="ko-KR" altLang="en-US" sz="2000" b="1" kern="1200" dirty="0"/>
                <a:t>모델링 로봇 팔 제작</a:t>
              </a:r>
            </a:p>
          </p:txBody>
        </p:sp>
        <p:sp>
          <p:nvSpPr>
            <p:cNvPr id="154" name="직사각형 153"/>
            <p:cNvSpPr/>
            <p:nvPr/>
          </p:nvSpPr>
          <p:spPr>
            <a:xfrm>
              <a:off x="769304" y="1658321"/>
              <a:ext cx="3181524" cy="28922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769304" y="1658321"/>
              <a:ext cx="3181524" cy="289229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38100" tIns="38100" rIns="38100" bIns="38100" anchor="b" anchorCtr="0">
              <a:noAutofit/>
            </a:bodyPr>
            <a:lstStyle/>
            <a:p>
              <a:pPr lvl="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ko-KR" sz="1000" kern="1200">
                  <a:solidFill>
                    <a:schemeClr val="bg1"/>
                  </a:solidFill>
                </a:rPr>
                <a:t>.</a:t>
              </a:r>
              <a:endParaRPr lang="ko-KR" altLang="en-US" sz="1000" kern="1200">
                <a:solidFill>
                  <a:schemeClr val="bg1"/>
                </a:solidFill>
              </a:endParaRPr>
            </a:p>
          </p:txBody>
        </p:sp>
        <p:sp>
          <p:nvSpPr>
            <p:cNvPr id="156" name="화살표: 갈매기형 수장 155"/>
            <p:cNvSpPr/>
            <p:nvPr/>
          </p:nvSpPr>
          <p:spPr>
            <a:xfrm>
              <a:off x="769304" y="1947551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7" name="화살표: 갈매기형 수장 156"/>
            <p:cNvSpPr/>
            <p:nvPr/>
          </p:nvSpPr>
          <p:spPr>
            <a:xfrm>
              <a:off x="1216485" y="1947551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8" name="화살표: 갈매기형 수장 157"/>
            <p:cNvSpPr/>
            <p:nvPr/>
          </p:nvSpPr>
          <p:spPr>
            <a:xfrm>
              <a:off x="1664020" y="1947551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9" name="화살표: 갈매기형 수장 158"/>
            <p:cNvSpPr/>
            <p:nvPr/>
          </p:nvSpPr>
          <p:spPr>
            <a:xfrm>
              <a:off x="2111201" y="1947551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0" name="화살표: 갈매기형 수장 159"/>
            <p:cNvSpPr/>
            <p:nvPr/>
          </p:nvSpPr>
          <p:spPr>
            <a:xfrm>
              <a:off x="2558735" y="1947551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1" name="화살표: 갈매기형 수장 160"/>
            <p:cNvSpPr/>
            <p:nvPr/>
          </p:nvSpPr>
          <p:spPr>
            <a:xfrm>
              <a:off x="3005916" y="1947551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2" name="화살표: 갈매기형 수장 161"/>
            <p:cNvSpPr/>
            <p:nvPr/>
          </p:nvSpPr>
          <p:spPr>
            <a:xfrm>
              <a:off x="3453451" y="1947551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3" name="직사각형 162"/>
            <p:cNvSpPr/>
            <p:nvPr/>
          </p:nvSpPr>
          <p:spPr>
            <a:xfrm>
              <a:off x="769304" y="2006468"/>
              <a:ext cx="3222884" cy="471336"/>
            </a:xfrm>
            <a:prstGeom prst="rect">
              <a:avLst/>
            </a:prstGeom>
            <a:solidFill>
              <a:schemeClr val="l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769304" y="2006468"/>
              <a:ext cx="3222884" cy="471336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60960" tIns="60960" rIns="60960" bIns="60960" anchor="ctr" anchorCtr="0">
              <a:noAutofit/>
            </a:bodyPr>
            <a:lstStyle/>
            <a:p>
              <a:pPr lvl="0" algn="l" defTabSz="10668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ko-KR" altLang="en-US" sz="2000" b="1" kern="1200"/>
                <a:t>가변저항기</a:t>
              </a:r>
              <a:r>
                <a:rPr lang="en-US" altLang="ko-KR" sz="2000" b="1" kern="1200"/>
                <a:t>,</a:t>
              </a:r>
              <a:r>
                <a:rPr lang="ko-KR" altLang="en-US" sz="2000" b="1" kern="1200"/>
                <a:t> 서보모터 조립</a:t>
              </a:r>
            </a:p>
          </p:txBody>
        </p:sp>
        <p:sp>
          <p:nvSpPr>
            <p:cNvPr id="165" name="직사각형 164"/>
            <p:cNvSpPr/>
            <p:nvPr/>
          </p:nvSpPr>
          <p:spPr>
            <a:xfrm>
              <a:off x="769304" y="2603624"/>
              <a:ext cx="3181524" cy="28922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769304" y="2603624"/>
              <a:ext cx="3181524" cy="289229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38100" tIns="38100" rIns="38100" bIns="38100" anchor="b" anchorCtr="0">
              <a:noAutofit/>
            </a:bodyPr>
            <a:lstStyle/>
            <a:p>
              <a:pPr lvl="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ko-KR" sz="1000" kern="1200">
                  <a:solidFill>
                    <a:schemeClr val="bg1"/>
                  </a:solidFill>
                </a:rPr>
                <a:t>.</a:t>
              </a:r>
              <a:endParaRPr lang="ko-KR" altLang="en-US" sz="1000" kern="1200">
                <a:solidFill>
                  <a:schemeClr val="bg1"/>
                </a:solidFill>
              </a:endParaRPr>
            </a:p>
          </p:txBody>
        </p:sp>
        <p:sp>
          <p:nvSpPr>
            <p:cNvPr id="167" name="화살표: 갈매기형 수장 166"/>
            <p:cNvSpPr/>
            <p:nvPr/>
          </p:nvSpPr>
          <p:spPr>
            <a:xfrm>
              <a:off x="769304" y="2892854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8" name="화살표: 갈매기형 수장 167"/>
            <p:cNvSpPr/>
            <p:nvPr/>
          </p:nvSpPr>
          <p:spPr>
            <a:xfrm>
              <a:off x="1216485" y="2892854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69" name="화살표: 갈매기형 수장 168"/>
            <p:cNvSpPr/>
            <p:nvPr/>
          </p:nvSpPr>
          <p:spPr>
            <a:xfrm>
              <a:off x="1664020" y="2892854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0" name="화살표: 갈매기형 수장 169"/>
            <p:cNvSpPr/>
            <p:nvPr/>
          </p:nvSpPr>
          <p:spPr>
            <a:xfrm>
              <a:off x="2111201" y="2892854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1" name="화살표: 갈매기형 수장 170"/>
            <p:cNvSpPr/>
            <p:nvPr/>
          </p:nvSpPr>
          <p:spPr>
            <a:xfrm>
              <a:off x="2558735" y="2892854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2" name="화살표: 갈매기형 수장 171"/>
            <p:cNvSpPr/>
            <p:nvPr/>
          </p:nvSpPr>
          <p:spPr>
            <a:xfrm>
              <a:off x="3005916" y="2892854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3" name="화살표: 갈매기형 수장 172"/>
            <p:cNvSpPr/>
            <p:nvPr/>
          </p:nvSpPr>
          <p:spPr>
            <a:xfrm>
              <a:off x="3453451" y="2892854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74" name="직사각형 173"/>
            <p:cNvSpPr/>
            <p:nvPr/>
          </p:nvSpPr>
          <p:spPr>
            <a:xfrm>
              <a:off x="769304" y="2951771"/>
              <a:ext cx="3222884" cy="471336"/>
            </a:xfrm>
            <a:prstGeom prst="rect">
              <a:avLst/>
            </a:prstGeom>
            <a:solidFill>
              <a:schemeClr val="l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75" name="TextBox 174"/>
            <p:cNvSpPr txBox="1"/>
            <p:nvPr/>
          </p:nvSpPr>
          <p:spPr>
            <a:xfrm>
              <a:off x="759779" y="2951771"/>
              <a:ext cx="3222884" cy="471336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60960" tIns="60960" rIns="60960" bIns="60960" anchor="ctr" anchorCtr="0">
              <a:noAutofit/>
            </a:bodyPr>
            <a:lstStyle/>
            <a:p>
              <a:pPr lvl="0" algn="l" defTabSz="10668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ko-KR" altLang="en-US" sz="2000" b="1" kern="1200"/>
                <a:t>회로구성 및 납땜</a:t>
              </a:r>
            </a:p>
          </p:txBody>
        </p:sp>
      </p:grpSp>
      <p:grpSp>
        <p:nvGrpSpPr>
          <p:cNvPr id="176" name="그룹 175"/>
          <p:cNvGrpSpPr/>
          <p:nvPr/>
        </p:nvGrpSpPr>
        <p:grpSpPr>
          <a:xfrm>
            <a:off x="769304" y="3375972"/>
            <a:ext cx="3428623" cy="2769007"/>
            <a:chOff x="769304" y="3375972"/>
            <a:chExt cx="3428623" cy="2769007"/>
          </a:xfrm>
        </p:grpSpPr>
        <p:sp>
          <p:nvSpPr>
            <p:cNvPr id="177" name="직사각형 176"/>
            <p:cNvSpPr/>
            <p:nvPr/>
          </p:nvSpPr>
          <p:spPr>
            <a:xfrm>
              <a:off x="769304" y="3375972"/>
              <a:ext cx="3181524" cy="28922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78" name="TextBox 177"/>
            <p:cNvSpPr txBox="1"/>
            <p:nvPr/>
          </p:nvSpPr>
          <p:spPr>
            <a:xfrm>
              <a:off x="769304" y="3375972"/>
              <a:ext cx="3181524" cy="289229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38100" tIns="38100" rIns="38100" bIns="38100" anchor="b" anchorCtr="0">
              <a:noAutofit/>
            </a:bodyPr>
            <a:lstStyle/>
            <a:p>
              <a:pPr lvl="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ko-KR" sz="1000" kern="1200">
                  <a:solidFill>
                    <a:schemeClr val="bg1"/>
                  </a:solidFill>
                </a:rPr>
                <a:t>.</a:t>
              </a:r>
              <a:endParaRPr lang="ko-KR" altLang="en-US" sz="1000" kern="1200">
                <a:solidFill>
                  <a:schemeClr val="bg1"/>
                </a:solidFill>
              </a:endParaRPr>
            </a:p>
          </p:txBody>
        </p:sp>
        <p:sp>
          <p:nvSpPr>
            <p:cNvPr id="179" name="화살표: 갈매기형 수장 178"/>
            <p:cNvSpPr/>
            <p:nvPr/>
          </p:nvSpPr>
          <p:spPr>
            <a:xfrm>
              <a:off x="769304" y="3665202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0" name="화살표: 갈매기형 수장 179"/>
            <p:cNvSpPr/>
            <p:nvPr/>
          </p:nvSpPr>
          <p:spPr>
            <a:xfrm>
              <a:off x="1216485" y="3665202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1" name="화살표: 갈매기형 수장 180"/>
            <p:cNvSpPr/>
            <p:nvPr/>
          </p:nvSpPr>
          <p:spPr>
            <a:xfrm>
              <a:off x="1664020" y="3665202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2" name="화살표: 갈매기형 수장 181"/>
            <p:cNvSpPr/>
            <p:nvPr/>
          </p:nvSpPr>
          <p:spPr>
            <a:xfrm>
              <a:off x="2111201" y="3665202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3" name="화살표: 갈매기형 수장 182"/>
            <p:cNvSpPr/>
            <p:nvPr/>
          </p:nvSpPr>
          <p:spPr>
            <a:xfrm>
              <a:off x="2558735" y="3665202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4" name="화살표: 갈매기형 수장 183"/>
            <p:cNvSpPr/>
            <p:nvPr/>
          </p:nvSpPr>
          <p:spPr>
            <a:xfrm>
              <a:off x="3005916" y="3665202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5" name="화살표: 갈매기형 수장 184"/>
            <p:cNvSpPr/>
            <p:nvPr/>
          </p:nvSpPr>
          <p:spPr>
            <a:xfrm>
              <a:off x="3453451" y="3665202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86" name="직사각형 185"/>
            <p:cNvSpPr/>
            <p:nvPr/>
          </p:nvSpPr>
          <p:spPr>
            <a:xfrm>
              <a:off x="769304" y="3724119"/>
              <a:ext cx="3222884" cy="471336"/>
            </a:xfrm>
            <a:prstGeom prst="rect">
              <a:avLst/>
            </a:prstGeom>
            <a:solidFill>
              <a:schemeClr val="l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87" name="TextBox 186"/>
            <p:cNvSpPr txBox="1"/>
            <p:nvPr/>
          </p:nvSpPr>
          <p:spPr>
            <a:xfrm>
              <a:off x="769304" y="3724119"/>
              <a:ext cx="3222884" cy="471336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60960" tIns="60960" rIns="60960" bIns="60960" anchor="ctr" anchorCtr="0">
              <a:noAutofit/>
            </a:bodyPr>
            <a:lstStyle/>
            <a:p>
              <a:pPr lvl="0" algn="l" defTabSz="10668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ko-KR" sz="2000" b="1" kern="1200"/>
                <a:t>Arduino </a:t>
              </a:r>
              <a:r>
                <a:rPr lang="ko-KR" altLang="en-US" sz="2000" b="1" kern="1200"/>
                <a:t>스크립트 제작</a:t>
              </a:r>
            </a:p>
          </p:txBody>
        </p:sp>
        <p:sp>
          <p:nvSpPr>
            <p:cNvPr id="188" name="직사각형 187"/>
            <p:cNvSpPr/>
            <p:nvPr/>
          </p:nvSpPr>
          <p:spPr>
            <a:xfrm>
              <a:off x="769304" y="4321275"/>
              <a:ext cx="3181524" cy="28922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89" name="TextBox 188"/>
            <p:cNvSpPr txBox="1"/>
            <p:nvPr/>
          </p:nvSpPr>
          <p:spPr>
            <a:xfrm>
              <a:off x="769304" y="4321275"/>
              <a:ext cx="3181524" cy="289229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38100" tIns="38100" rIns="38100" bIns="38100" anchor="b" anchorCtr="0">
              <a:noAutofit/>
            </a:bodyPr>
            <a:lstStyle/>
            <a:p>
              <a:pPr lvl="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ko-KR" sz="1000" kern="1200">
                  <a:solidFill>
                    <a:schemeClr val="bg1"/>
                  </a:solidFill>
                </a:rPr>
                <a:t>.</a:t>
              </a:r>
              <a:endParaRPr lang="ko-KR" altLang="en-US" sz="1000" kern="1200">
                <a:solidFill>
                  <a:schemeClr val="bg1"/>
                </a:solidFill>
              </a:endParaRPr>
            </a:p>
          </p:txBody>
        </p:sp>
        <p:sp>
          <p:nvSpPr>
            <p:cNvPr id="190" name="화살표: 갈매기형 수장 189"/>
            <p:cNvSpPr/>
            <p:nvPr/>
          </p:nvSpPr>
          <p:spPr>
            <a:xfrm>
              <a:off x="769304" y="4610505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1" name="화살표: 갈매기형 수장 190"/>
            <p:cNvSpPr/>
            <p:nvPr/>
          </p:nvSpPr>
          <p:spPr>
            <a:xfrm>
              <a:off x="1216485" y="4610505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2" name="화살표: 갈매기형 수장 191"/>
            <p:cNvSpPr/>
            <p:nvPr/>
          </p:nvSpPr>
          <p:spPr>
            <a:xfrm>
              <a:off x="1664020" y="4610505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3" name="화살표: 갈매기형 수장 192"/>
            <p:cNvSpPr/>
            <p:nvPr/>
          </p:nvSpPr>
          <p:spPr>
            <a:xfrm>
              <a:off x="2111201" y="4610505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4" name="화살표: 갈매기형 수장 193"/>
            <p:cNvSpPr/>
            <p:nvPr/>
          </p:nvSpPr>
          <p:spPr>
            <a:xfrm>
              <a:off x="2558735" y="4610505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5" name="화살표: 갈매기형 수장 194"/>
            <p:cNvSpPr/>
            <p:nvPr/>
          </p:nvSpPr>
          <p:spPr>
            <a:xfrm>
              <a:off x="3005916" y="4610505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6" name="화살표: 갈매기형 수장 195"/>
            <p:cNvSpPr/>
            <p:nvPr/>
          </p:nvSpPr>
          <p:spPr>
            <a:xfrm>
              <a:off x="3453451" y="4610505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97" name="직사각형 196"/>
            <p:cNvSpPr/>
            <p:nvPr/>
          </p:nvSpPr>
          <p:spPr>
            <a:xfrm>
              <a:off x="769304" y="4669422"/>
              <a:ext cx="3222884" cy="471336"/>
            </a:xfrm>
            <a:prstGeom prst="rect">
              <a:avLst/>
            </a:prstGeom>
            <a:solidFill>
              <a:schemeClr val="l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198" name="TextBox 197"/>
            <p:cNvSpPr txBox="1"/>
            <p:nvPr/>
          </p:nvSpPr>
          <p:spPr>
            <a:xfrm>
              <a:off x="769304" y="4669422"/>
              <a:ext cx="3222884" cy="471336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60960" tIns="60960" rIns="60960" bIns="60960" anchor="ctr" anchorCtr="0">
              <a:noAutofit/>
            </a:bodyPr>
            <a:lstStyle/>
            <a:p>
              <a:pPr lvl="0" algn="l" defTabSz="10668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ko-KR" altLang="en-US" sz="2000" b="1" kern="1200"/>
                <a:t>로봇 팔 모형 </a:t>
              </a:r>
              <a:r>
                <a:rPr lang="en-US" altLang="ko-KR" sz="2000" b="1" kern="1200"/>
                <a:t>3D Printing</a:t>
              </a:r>
              <a:endParaRPr lang="ko-KR" altLang="en-US" sz="2000" b="1" kern="1200"/>
            </a:p>
          </p:txBody>
        </p:sp>
        <p:sp>
          <p:nvSpPr>
            <p:cNvPr id="199" name="직사각형 198"/>
            <p:cNvSpPr/>
            <p:nvPr/>
          </p:nvSpPr>
          <p:spPr>
            <a:xfrm>
              <a:off x="769304" y="5266578"/>
              <a:ext cx="3181524" cy="289229"/>
            </a:xfrm>
            <a:prstGeom prst="rect">
              <a:avLst/>
            </a:prstGeom>
            <a:noFill/>
            <a:ln>
              <a:noFill/>
            </a:ln>
            <a:effectLst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00" name="TextBox 199"/>
            <p:cNvSpPr txBox="1"/>
            <p:nvPr/>
          </p:nvSpPr>
          <p:spPr>
            <a:xfrm>
              <a:off x="769304" y="5266578"/>
              <a:ext cx="3181524" cy="289229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38100" tIns="38100" rIns="38100" bIns="38100" anchor="b" anchorCtr="0">
              <a:noAutofit/>
            </a:bodyPr>
            <a:lstStyle/>
            <a:p>
              <a:pPr lvl="0" algn="l" defTabSz="4445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en-US" altLang="ko-KR" sz="1000" kern="1200">
                  <a:solidFill>
                    <a:schemeClr val="bg1"/>
                  </a:solidFill>
                </a:rPr>
                <a:t>.</a:t>
              </a:r>
              <a:endParaRPr lang="ko-KR" altLang="en-US" sz="1000" kern="1200">
                <a:solidFill>
                  <a:schemeClr val="bg1"/>
                </a:solidFill>
              </a:endParaRPr>
            </a:p>
          </p:txBody>
        </p:sp>
        <p:sp>
          <p:nvSpPr>
            <p:cNvPr id="201" name="화살표: 갈매기형 수장 200"/>
            <p:cNvSpPr/>
            <p:nvPr/>
          </p:nvSpPr>
          <p:spPr>
            <a:xfrm>
              <a:off x="769304" y="5555808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2" name="화살표: 갈매기형 수장 201"/>
            <p:cNvSpPr/>
            <p:nvPr/>
          </p:nvSpPr>
          <p:spPr>
            <a:xfrm>
              <a:off x="1216485" y="5555808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3" name="화살표: 갈매기형 수장 202"/>
            <p:cNvSpPr/>
            <p:nvPr/>
          </p:nvSpPr>
          <p:spPr>
            <a:xfrm>
              <a:off x="1664020" y="5555808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4" name="화살표: 갈매기형 수장 203"/>
            <p:cNvSpPr/>
            <p:nvPr/>
          </p:nvSpPr>
          <p:spPr>
            <a:xfrm>
              <a:off x="2111201" y="5555808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5" name="화살표: 갈매기형 수장 204"/>
            <p:cNvSpPr/>
            <p:nvPr/>
          </p:nvSpPr>
          <p:spPr>
            <a:xfrm>
              <a:off x="2558735" y="5555808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6" name="화살표: 갈매기형 수장 205"/>
            <p:cNvSpPr/>
            <p:nvPr/>
          </p:nvSpPr>
          <p:spPr>
            <a:xfrm>
              <a:off x="3005916" y="5555808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7" name="화살표: 갈매기형 수장 206"/>
            <p:cNvSpPr/>
            <p:nvPr/>
          </p:nvSpPr>
          <p:spPr>
            <a:xfrm>
              <a:off x="3453451" y="5555808"/>
              <a:ext cx="744476" cy="589171"/>
            </a:xfrm>
            <a:prstGeom prst="chevron">
              <a:avLst>
                <a:gd name="adj" fmla="val 70610"/>
              </a:avLst>
            </a:prstGeom>
            <a:solidFill>
              <a:schemeClr val="accen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08" name="직사각형 207"/>
            <p:cNvSpPr/>
            <p:nvPr/>
          </p:nvSpPr>
          <p:spPr>
            <a:xfrm>
              <a:off x="769304" y="5614725"/>
              <a:ext cx="3222884" cy="471336"/>
            </a:xfrm>
            <a:prstGeom prst="rect">
              <a:avLst/>
            </a:prstGeom>
            <a:solidFill>
              <a:schemeClr val="lt1">
                <a:hueOff val="0"/>
                <a:satOff val="0"/>
                <a:lumOff val="0"/>
                <a:alphaOff val="0"/>
              </a:schemeClr>
            </a:solidFill>
            <a:ln w="12700" cap="flat" cmpd="sng" algn="ctr">
              <a:solidFill>
                <a:schemeClr val="accent1">
                  <a:hueOff val="0"/>
                  <a:satOff val="0"/>
                  <a:lumOff val="0"/>
                  <a:alphaOff val="0"/>
                </a:schemeClr>
              </a:solidFill>
              <a:prstDash val="solid"/>
              <a:miter/>
            </a:ln>
            <a:effectLst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rgbClr r="0" g="0" b="0"/>
            </a:effectRef>
            <a:fontRef idx="minor">
              <a:scrgbClr r="0" g="0" b="0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209" name="TextBox 208"/>
            <p:cNvSpPr txBox="1"/>
            <p:nvPr/>
          </p:nvSpPr>
          <p:spPr>
            <a:xfrm>
              <a:off x="769304" y="5614725"/>
              <a:ext cx="3222884" cy="471336"/>
            </a:xfrm>
            <a:prstGeom prst="rect">
              <a:avLst/>
            </a:prstGeom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rgbClr r="0" g="0" b="0"/>
            </a:fontRef>
          </p:style>
          <p:txBody>
            <a:bodyPr vert="horz" wrap="square" lIns="60960" tIns="60960" rIns="60960" bIns="60960" anchor="ctr" anchorCtr="0">
              <a:noAutofit/>
            </a:bodyPr>
            <a:lstStyle/>
            <a:p>
              <a:pPr lvl="0" algn="l" defTabSz="1066800" latinLnBrk="1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ko-KR" altLang="en-US" sz="2000" b="1" kern="1200"/>
                <a:t>로봇 팔 체결 및 동작</a:t>
              </a:r>
            </a:p>
          </p:txBody>
        </p:sp>
      </p:grpSp>
      <p:pic>
        <p:nvPicPr>
          <p:cNvPr id="9" name="그림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4244803" y="1015940"/>
            <a:ext cx="3702387" cy="5083814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079067" y="4925361"/>
            <a:ext cx="3508977" cy="1174393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044798" y="1015940"/>
            <a:ext cx="3583784" cy="3845506"/>
          </a:xfrm>
          <a:prstGeom prst="rect">
            <a:avLst/>
          </a:prstGeom>
        </p:spPr>
      </p:pic>
      <p:grpSp>
        <p:nvGrpSpPr>
          <p:cNvPr id="2" name="그룹 1">
            <a:extLst>
              <a:ext uri="{FF2B5EF4-FFF2-40B4-BE49-F238E27FC236}">
                <a16:creationId xmlns:a16="http://schemas.microsoft.com/office/drawing/2014/main" id="{5AB371EA-57EA-08F1-DF29-6A4183628988}"/>
              </a:ext>
            </a:extLst>
          </p:cNvPr>
          <p:cNvGrpSpPr/>
          <p:nvPr/>
        </p:nvGrpSpPr>
        <p:grpSpPr>
          <a:xfrm rot="10800000">
            <a:off x="5719494" y="6434668"/>
            <a:ext cx="753009" cy="94593"/>
            <a:chOff x="5390287" y="6434669"/>
            <a:chExt cx="753009" cy="94593"/>
          </a:xfrm>
        </p:grpSpPr>
        <p:sp>
          <p:nvSpPr>
            <p:cNvPr id="4" name="타원 3">
              <a:extLst>
                <a:ext uri="{FF2B5EF4-FFF2-40B4-BE49-F238E27FC236}">
                  <a16:creationId xmlns:a16="http://schemas.microsoft.com/office/drawing/2014/main" id="{9591A7F5-1589-BB0D-DF39-EF13947AC703}"/>
                </a:ext>
              </a:extLst>
            </p:cNvPr>
            <p:cNvSpPr/>
            <p:nvPr/>
          </p:nvSpPr>
          <p:spPr>
            <a:xfrm rot="16200000">
              <a:off x="5390287" y="6434669"/>
              <a:ext cx="94593" cy="94593"/>
            </a:xfrm>
            <a:prstGeom prst="ellipse">
              <a:avLst/>
            </a:prstGeom>
            <a:noFill/>
            <a:ln w="381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C775B35C-CF90-F1CF-BA03-59EE33F8493B}"/>
                </a:ext>
              </a:extLst>
            </p:cNvPr>
            <p:cNvSpPr/>
            <p:nvPr/>
          </p:nvSpPr>
          <p:spPr>
            <a:xfrm rot="16200000">
              <a:off x="5719495" y="6434669"/>
              <a:ext cx="94593" cy="94593"/>
            </a:xfrm>
            <a:prstGeom prst="ellipse">
              <a:avLst/>
            </a:prstGeom>
            <a:solidFill>
              <a:srgbClr val="5656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7A03D21E-FA73-33FF-789B-726D120E0014}"/>
                </a:ext>
              </a:extLst>
            </p:cNvPr>
            <p:cNvSpPr/>
            <p:nvPr/>
          </p:nvSpPr>
          <p:spPr>
            <a:xfrm rot="16200000">
              <a:off x="6048703" y="6434669"/>
              <a:ext cx="94593" cy="94593"/>
            </a:xfrm>
            <a:prstGeom prst="ellipse">
              <a:avLst/>
            </a:prstGeom>
            <a:solidFill>
              <a:srgbClr val="56565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ko-KR" altLang="en-US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798785" y="798070"/>
            <a:ext cx="4312330" cy="1390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/>
            </a:pPr>
            <a:r>
              <a:rPr kumimoji="1" lang="ko-KR" altLang="en-US" sz="22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감사합니다</a:t>
            </a:r>
            <a:r>
              <a:rPr kumimoji="1" lang="en-US" altLang="ko-KR" sz="22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,</a:t>
            </a:r>
          </a:p>
          <a:p>
            <a:pPr>
              <a:lnSpc>
                <a:spcPct val="130000"/>
              </a:lnSpc>
              <a:defRPr/>
            </a:pPr>
            <a:r>
              <a:rPr kumimoji="1" lang="ko-KR" altLang="en-US" sz="22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차량 전장 제어기 </a:t>
            </a:r>
            <a:r>
              <a:rPr kumimoji="1" lang="en-US" altLang="ko-KR" sz="22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SW</a:t>
            </a:r>
            <a:r>
              <a:rPr kumimoji="1" lang="ko-KR" altLang="en-US" sz="22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 검증 경력자</a:t>
            </a:r>
          </a:p>
          <a:p>
            <a:pPr>
              <a:lnSpc>
                <a:spcPct val="130000"/>
              </a:lnSpc>
              <a:defRPr/>
            </a:pPr>
            <a:r>
              <a:rPr kumimoji="1" lang="ko-KR" altLang="en-US" sz="22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선동은 </a:t>
            </a:r>
            <a:r>
              <a:rPr kumimoji="1" lang="ko-KR" altLang="en-US" sz="22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입니다</a:t>
            </a:r>
            <a:r>
              <a:rPr kumimoji="1" lang="en-US" altLang="ko-KR" sz="22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191" y="5298857"/>
            <a:ext cx="3502048" cy="1080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30000"/>
              </a:lnSpc>
              <a:defRPr/>
            </a:pPr>
            <a:r>
              <a:rPr kumimoji="1" lang="ko-KR" altLang="en-US" sz="50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감사합니다</a:t>
            </a:r>
            <a:r>
              <a:rPr kumimoji="1" lang="en-US" altLang="ko-KR" sz="5000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148280" y="798070"/>
            <a:ext cx="1317990" cy="4183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30000"/>
              </a:lnSpc>
              <a:defRPr/>
            </a:pPr>
            <a:r>
              <a:rPr kumimoji="1" lang="en-US" altLang="ko-KR" b="1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CONTACT</a:t>
            </a:r>
            <a:endParaRPr kumimoji="1" lang="ko-KR" altLang="en-US">
              <a:solidFill>
                <a:schemeClr val="bg1"/>
              </a:solidFill>
              <a:latin typeface="Pretendard"/>
              <a:ea typeface="Pretendard"/>
              <a:cs typeface="Pretendar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28836" y="1210812"/>
            <a:ext cx="1737434" cy="63513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lnSpc>
                <a:spcPct val="130000"/>
              </a:lnSpc>
              <a:defRPr/>
            </a:pPr>
            <a:r>
              <a:rPr kumimoji="1"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+82 10 3734 7378</a:t>
            </a:r>
          </a:p>
          <a:p>
            <a:pPr algn="r">
              <a:lnSpc>
                <a:spcPct val="130000"/>
              </a:lnSpc>
              <a:defRPr/>
            </a:pPr>
            <a:r>
              <a:rPr kumimoji="1" lang="en-US" altLang="ko-KR" sz="1400">
                <a:solidFill>
                  <a:schemeClr val="bg1"/>
                </a:solidFill>
                <a:latin typeface="Pretendard"/>
                <a:ea typeface="Pretendard"/>
                <a:cs typeface="Pretendard"/>
              </a:rPr>
              <a:t>jltbh99@naver.com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1073</ep:Words>
  <ep:PresentationFormat>와이드스크린</ep:PresentationFormat>
  <ep:Paragraphs>258</ep:Paragraphs>
  <ep:Slides>14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2023-12-05T03:18:19.000</dcterms:created>
  <dc:creator>한빈 이</dc:creator>
  <cp:lastModifiedBy>동눈</cp:lastModifiedBy>
  <dcterms:modified xsi:type="dcterms:W3CDTF">2026-09-25T10:10:52.827</dcterms:modified>
  <cp:revision>217</cp:revision>
  <dc:title>PowerPoint 프레젠테이션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